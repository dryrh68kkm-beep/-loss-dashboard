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2147474385" r:id="rId2"/>
    <p:sldId id="2147474407" r:id="rId3"/>
    <p:sldId id="257" r:id="rId4"/>
    <p:sldId id="2147474419" r:id="rId5"/>
    <p:sldId id="260" r:id="rId6"/>
    <p:sldId id="2147474420" r:id="rId8"/>
    <p:sldId id="2147474421" r:id="rId7"/>
    <p:sldId id="2147474422" r:id="rId19"/>
    <p:sldId id="2147474423" r:id="rId20"/>
    <p:sldId id="2147474404" r:id="rId9"/>
    <p:sldId id="2147474405" r:id="rId10"/>
    <p:sldId id="2142533150" r:id="rId11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D88D27E2-AFBF-453C-9DAA-712299CCFA1F}">
          <p14:sldIdLst>
            <p14:sldId id="2147474385"/>
            <p14:sldId id="2147474407"/>
            <p14:sldId id="257"/>
            <p14:sldId id="2147474419"/>
            <p14:sldId id="260"/>
            <p14:sldId id="2147474417"/>
            <p14:sldId id="2147474420"/>
            <p14:sldId id="2147474404"/>
            <p14:sldId id="2147474405"/>
            <p14:sldId id="21425331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FD Punmrisa Anucha" initials="CPA" lastIdx="1" clrIdx="0">
    <p:extLst>
      <p:ext uri="{19B8F6BF-5375-455C-9EA6-DF929625EA0E}">
        <p15:presenceInfo xmlns:p15="http://schemas.microsoft.com/office/powerpoint/2012/main" userId="S-1-5-21-1507531483-1257717219-1307212239-352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E571"/>
    <a:srgbClr val="A0C515"/>
    <a:srgbClr val="D1F7FF"/>
    <a:srgbClr val="00CAFD"/>
    <a:srgbClr val="D60F16"/>
    <a:srgbClr val="0ED2F7"/>
    <a:srgbClr val="149445"/>
    <a:srgbClr val="159B48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3554" autoAdjust="0"/>
  </p:normalViewPr>
  <p:slideViewPr>
    <p:cSldViewPr snapToGrid="0" snapToObjects="1">
      <p:cViewPr varScale="1">
        <p:scale>
          <a:sx n="111" d="100"/>
          <a:sy n="111" d="100"/>
        </p:scale>
        <p:origin x="72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478"/>
    </p:cViewPr>
  </p:sorterViewPr>
  <p:notesViewPr>
    <p:cSldViewPr snapToGrid="0" snapToObjects="1">
      <p:cViewPr varScale="1">
        <p:scale>
          <a:sx n="76" d="100"/>
          <a:sy n="76" d="100"/>
        </p:scale>
        <p:origin x="2610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0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</c:v>
                </c:pt>
              </c:strCache>
            </c:strRef>
          </c:tx>
          <c:spPr>
            <a:solidFill>
              <a:srgbClr val="2E6CA4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0" i="0" u="none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DAMAGE</c:v>
                </c:pt>
                <c:pt idx="1">
                  <c:v>SHRINKAGE</c:v>
                </c:pt>
                <c:pt idx="2">
                  <c:v>RTC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2343406</c:v>
                </c:pt>
                <c:pt idx="1">
                  <c:v>376352</c:v>
                </c:pt>
                <c:pt idx="2">
                  <c:v>1427243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A43-4FB1-8A5B-0F980332CC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LY</c:v>
                </c:pt>
              </c:strCache>
            </c:strRef>
          </c:tx>
          <c:spPr>
            <a:solidFill>
              <a:srgbClr val="90A4A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0" i="0" u="none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DAMAGE</c:v>
                </c:pt>
                <c:pt idx="1">
                  <c:v>SHRINKAGE</c:v>
                </c:pt>
                <c:pt idx="2">
                  <c:v>RTC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2677806</c:v>
                </c:pt>
                <c:pt idx="1">
                  <c:v>877398</c:v>
                </c:pt>
                <c:pt idx="2">
                  <c:v>416515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A43-4FB1-8A5B-0F980332CC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200" b="0" i="0" u="none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1000" b="0" i="0" u="none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 anchorCtr="1"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>
      <a:noFill/>
    </a:ln>
  </c:sp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A1301-A3D6-4D6E-BD51-FBABC22F7890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43DF-A40E-41DA-B4BF-8D5DFE1617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06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391F3-01B0-4FFF-8B9A-03D6B158B47D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3FFF1-5A52-4B1F-BCC5-965931AB53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12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BigC_Sainoi_Loss_DataPack(1).xlsx (user-provided workbook)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BigC_Sainoi_Loss_DataPack(1).xlsx (user-provided workbook)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I Template Powerpoint W-01.jpg"/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52" y="0"/>
            <a:ext cx="12197851" cy="6858000"/>
          </a:xfrm>
          <a:prstGeom prst="rect">
            <a:avLst/>
          </a:prstGeom>
        </p:spPr>
      </p:pic>
      <p:sp>
        <p:nvSpPr>
          <p:cNvPr id="28" name="Text Placeholder 27"/>
          <p:cNvSpPr>
            <a:spLocks noGrp="1"/>
          </p:cNvSpPr>
          <p:nvPr>
            <p:ph type="body" sz="quarter" idx="12" hasCustomPrompt="1"/>
          </p:nvPr>
        </p:nvSpPr>
        <p:spPr>
          <a:xfrm>
            <a:off x="1444371" y="3318212"/>
            <a:ext cx="9288807" cy="649517"/>
          </a:xfrm>
        </p:spPr>
        <p:txBody>
          <a:bodyPr anchor="ctr">
            <a:noAutofit/>
          </a:bodyPr>
          <a:lstStyle>
            <a:lvl1pPr marL="0" indent="0" algn="ctr">
              <a:buNone/>
              <a:defRPr sz="6000" b="1" baseline="0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1444371" y="3970979"/>
            <a:ext cx="9288807" cy="689113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0" baseline="0">
                <a:solidFill>
                  <a:srgbClr val="2AA739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name / division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4" hasCustomPrompt="1"/>
          </p:nvPr>
        </p:nvSpPr>
        <p:spPr>
          <a:xfrm>
            <a:off x="9140100" y="6343227"/>
            <a:ext cx="2940352" cy="332207"/>
          </a:xfrm>
          <a:noFill/>
          <a:ln>
            <a:noFill/>
          </a:ln>
        </p:spPr>
        <p:txBody>
          <a:bodyPr>
            <a:noAutofit/>
          </a:bodyPr>
          <a:lstStyle>
            <a:lvl1pPr marL="0" indent="0" algn="r">
              <a:buNone/>
              <a:defRPr sz="2800" b="0" baseline="0">
                <a:solidFill>
                  <a:schemeClr val="bg1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</p:spTree>
    <p:extLst>
      <p:ext uri="{BB962C8B-B14F-4D97-AF65-F5344CB8AC3E}">
        <p14:creationId xmlns:p14="http://schemas.microsoft.com/office/powerpoint/2010/main" val="284143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F9B5-E75D-5FB0-855B-FF1F87E6EE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58753"/>
            <a:ext cx="9144000" cy="940499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Insert Title</a:t>
            </a:r>
            <a:endParaRPr lang="th-T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9809E-B01F-E58E-D3AB-078B6B86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14102"/>
            <a:ext cx="9144000" cy="58591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name / division</a:t>
            </a:r>
            <a:endParaRPr lang="th-TH" dirty="0"/>
          </a:p>
        </p:txBody>
      </p:sp>
      <p:pic>
        <p:nvPicPr>
          <p:cNvPr id="1028" name="Picture 4" descr="Big C | Logopedia | Fandom">
            <a:extLst>
              <a:ext uri="{FF2B5EF4-FFF2-40B4-BE49-F238E27FC236}">
                <a16:creationId xmlns:a16="http://schemas.microsoft.com/office/drawing/2014/main" id="{BED5C335-3F45-18E0-B4A3-21A4AC11B6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149" y="1253985"/>
            <a:ext cx="449370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5D0E6B-27F4-BF5B-ED3C-342043DD46A0}"/>
              </a:ext>
            </a:extLst>
          </p:cNvPr>
          <p:cNvSpPr/>
          <p:nvPr userDrawn="1"/>
        </p:nvSpPr>
        <p:spPr>
          <a:xfrm>
            <a:off x="914400" y="2747480"/>
            <a:ext cx="10363200" cy="91440"/>
          </a:xfrm>
          <a:prstGeom prst="rect">
            <a:avLst/>
          </a:prstGeom>
          <a:solidFill>
            <a:srgbClr val="A0C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CE7E0-02A9-E67F-A949-AB340ACB871E}"/>
              </a:ext>
            </a:extLst>
          </p:cNvPr>
          <p:cNvSpPr/>
          <p:nvPr userDrawn="1"/>
        </p:nvSpPr>
        <p:spPr>
          <a:xfrm>
            <a:off x="1286701" y="6407547"/>
            <a:ext cx="10793751" cy="365760"/>
          </a:xfrm>
          <a:prstGeom prst="rect">
            <a:avLst/>
          </a:prstGeom>
          <a:solidFill>
            <a:srgbClr val="A0C515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CF01D3-1A11-E51F-BCF3-049004EDC5F5}"/>
              </a:ext>
            </a:extLst>
          </p:cNvPr>
          <p:cNvGrpSpPr/>
          <p:nvPr userDrawn="1"/>
        </p:nvGrpSpPr>
        <p:grpSpPr>
          <a:xfrm>
            <a:off x="85345" y="6398090"/>
            <a:ext cx="1095695" cy="365760"/>
            <a:chOff x="64008" y="6398090"/>
            <a:chExt cx="821771" cy="365760"/>
          </a:xfrm>
          <a:solidFill>
            <a:srgbClr val="D60F16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D938A2-0BFB-0050-61D9-DF4EF7238477}"/>
                </a:ext>
              </a:extLst>
            </p:cNvPr>
            <p:cNvSpPr/>
            <p:nvPr userDrawn="1"/>
          </p:nvSpPr>
          <p:spPr>
            <a:xfrm>
              <a:off x="64008" y="6398090"/>
              <a:ext cx="612648" cy="365760"/>
            </a:xfrm>
            <a:prstGeom prst="rect">
              <a:avLst/>
            </a:prstGeom>
            <a:grpFill/>
            <a:ln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1800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61CDCA78-6902-9081-4D44-9B1ACEB1A87A}"/>
                </a:ext>
              </a:extLst>
            </p:cNvPr>
            <p:cNvSpPr/>
            <p:nvPr userDrawn="1"/>
          </p:nvSpPr>
          <p:spPr>
            <a:xfrm flipV="1">
              <a:off x="676656" y="6398090"/>
              <a:ext cx="209123" cy="365760"/>
            </a:xfrm>
            <a:prstGeom prst="rtTriangle">
              <a:avLst/>
            </a:prstGeom>
            <a:grpFill/>
            <a:ln>
              <a:noFill/>
            </a:ln>
            <a:effectLst>
              <a:outerShdw sx="1000" sy="1000" rotWithShape="0">
                <a:srgbClr val="000000"/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1800"/>
            </a:p>
          </p:txBody>
        </p:sp>
      </p:grp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778836B7-B075-7205-D106-A4BE440B2ED5}"/>
              </a:ext>
            </a:extLst>
          </p:cNvPr>
          <p:cNvSpPr/>
          <p:nvPr userDrawn="1"/>
        </p:nvSpPr>
        <p:spPr>
          <a:xfrm flipH="1">
            <a:off x="1007870" y="6407547"/>
            <a:ext cx="278831" cy="365760"/>
          </a:xfrm>
          <a:prstGeom prst="rtTriangle">
            <a:avLst/>
          </a:prstGeom>
          <a:solidFill>
            <a:srgbClr val="A0C515"/>
          </a:solidFill>
          <a:ln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8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6D36-E577-1CF7-952D-7152E62D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5280" y="6411215"/>
            <a:ext cx="2844800" cy="365125"/>
          </a:xfrm>
        </p:spPr>
        <p:txBody>
          <a:bodyPr/>
          <a:lstStyle/>
          <a:p>
            <a:fld id="{4DDE711D-BC4B-437F-AE00-D6D9AF438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107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I Template Powerpoint W-02.jpg"/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8931"/>
          <a:stretch/>
        </p:blipFill>
        <p:spPr>
          <a:xfrm>
            <a:off x="-10238" y="1"/>
            <a:ext cx="12202239" cy="759125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2400693" y="72742"/>
            <a:ext cx="9418056" cy="518867"/>
          </a:xfrm>
        </p:spPr>
        <p:txBody>
          <a:bodyPr>
            <a:noAutofit/>
          </a:bodyPr>
          <a:lstStyle>
            <a:lvl1pPr marL="0" indent="0" algn="r">
              <a:buNone/>
              <a:defRPr sz="4000" b="1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559766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5AA15-2FB7-5DCD-18BE-F045465A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2674B-B726-0D49-AB10-054972B268B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E5841-7F5D-4908-01AD-1AAAE14B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A98965-F13F-9CDE-AEA6-791C1297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BD734-9636-014D-93D9-1181353D778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4" descr="Big C | Logopedia | Fandom">
            <a:extLst>
              <a:ext uri="{FF2B5EF4-FFF2-40B4-BE49-F238E27FC236}">
                <a16:creationId xmlns:a16="http://schemas.microsoft.com/office/drawing/2014/main" id="{61B16455-64DA-572E-30A7-7C5C7E255B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99" y="104285"/>
            <a:ext cx="1902589" cy="53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0E4BA66-CF16-B46F-7481-F568A6199C7E}"/>
              </a:ext>
            </a:extLst>
          </p:cNvPr>
          <p:cNvSpPr/>
          <p:nvPr userDrawn="1"/>
        </p:nvSpPr>
        <p:spPr>
          <a:xfrm>
            <a:off x="386080" y="708851"/>
            <a:ext cx="11379200" cy="81406"/>
          </a:xfrm>
          <a:prstGeom prst="rect">
            <a:avLst/>
          </a:prstGeom>
          <a:solidFill>
            <a:srgbClr val="A0C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CB474-4B10-143F-1955-E28F0EAC68BB}"/>
              </a:ext>
            </a:extLst>
          </p:cNvPr>
          <p:cNvSpPr/>
          <p:nvPr userDrawn="1"/>
        </p:nvSpPr>
        <p:spPr>
          <a:xfrm>
            <a:off x="386080" y="714947"/>
            <a:ext cx="5693664" cy="81406"/>
          </a:xfrm>
          <a:prstGeom prst="rect">
            <a:avLst/>
          </a:prstGeom>
          <a:solidFill>
            <a:srgbClr val="D60F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80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F8D535E-61E2-6570-0F1F-DDE11A80B0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0693" y="72742"/>
            <a:ext cx="9418056" cy="518867"/>
          </a:xfrm>
        </p:spPr>
        <p:txBody>
          <a:bodyPr>
            <a:noAutofit/>
          </a:bodyPr>
          <a:lstStyle>
            <a:lvl1pPr marL="0" indent="0" algn="r">
              <a:buNone/>
              <a:defRPr sz="4000" b="1">
                <a:solidFill>
                  <a:srgbClr val="30513E"/>
                </a:solidFill>
                <a:latin typeface="Cordia New" panose="020B0304020202020204" pitchFamily="34" charset="-34"/>
                <a:cs typeface="Cordia New" panose="020B0304020202020204" pitchFamily="34" charset="-34"/>
              </a:defRPr>
            </a:lvl1pPr>
          </a:lstStyle>
          <a:p>
            <a:pPr lvl="0"/>
            <a:r>
              <a:rPr lang="en-US" dirty="0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41375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F4DDD-B0B4-B07C-C3A6-C07F11C34D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2064" y="233917"/>
            <a:ext cx="847726" cy="7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01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674B-B726-0D49-AB10-054972B268B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BD734-9636-014D-93D9-1181353D7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7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8" r:id="rId2"/>
    <p:sldLayoutId id="2147483660" r:id="rId3"/>
    <p:sldLayoutId id="2147483689" r:id="rId4"/>
    <p:sldLayoutId id="2147483690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chart" Target="../charts/chart1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F2914-6269-4779-A1B0-79DDB6451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16" y="4303545"/>
            <a:ext cx="5821959" cy="12010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B11C11-F860-46A1-B751-D370193FA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56" y="2958522"/>
            <a:ext cx="10326848" cy="125815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2F273-2A7C-44FE-9A2A-3F0BAAF8A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830" y="3101284"/>
            <a:ext cx="9306340" cy="852002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MEETING</a:t>
            </a:r>
            <a:endParaRPr lang="th-TH" sz="2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 C SAINOI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6EB9638-BCCF-4F51-A4D1-8C83741C09F2}"/>
              </a:ext>
            </a:extLst>
          </p:cNvPr>
          <p:cNvSpPr txBox="1">
            <a:spLocks/>
          </p:cNvSpPr>
          <p:nvPr/>
        </p:nvSpPr>
        <p:spPr>
          <a:xfrm>
            <a:off x="3129055" y="4541899"/>
            <a:ext cx="6165985" cy="890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7458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BAD9-A4D0-4A6A-6206-F9744C9D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1DBE93-E83B-4174-9A55-ADB82A97877F}"/>
              </a:ext>
            </a:extLst>
          </p:cNvPr>
          <p:cNvSpPr/>
          <p:nvPr/>
        </p:nvSpPr>
        <p:spPr>
          <a:xfrm>
            <a:off x="6334107" y="2820626"/>
            <a:ext cx="5484642" cy="2446046"/>
          </a:xfrm>
          <a:prstGeom prst="roundRect">
            <a:avLst/>
          </a:prstGeom>
          <a:solidFill>
            <a:srgbClr val="D1F7FF"/>
          </a:solidFill>
          <a:ln>
            <a:solidFill>
              <a:srgbClr val="00CA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C4005-4311-47D1-B6B5-4EEE5D4D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10" y="-92279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13277" y="72742"/>
            <a:ext cx="7305472" cy="51886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Performance Store : 11252 Sainoi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57C4C-5083-629C-B045-2DC3F45024D6}"/>
              </a:ext>
            </a:extLst>
          </p:cNvPr>
          <p:cNvSpPr/>
          <p:nvPr/>
        </p:nvSpPr>
        <p:spPr>
          <a:xfrm>
            <a:off x="9075032" y="913260"/>
            <a:ext cx="3116968" cy="4638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000" b="1" dirty="0">
                <a:solidFill>
                  <a:schemeClr val="bg1"/>
                </a:solidFill>
              </a:rPr>
              <a:t>YTD 01 JAN - 30 SEP 2026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7" name="Rounded Rectangle 5">
            <a:extLst>
              <a:ext uri="{FF2B5EF4-FFF2-40B4-BE49-F238E27FC236}">
                <a16:creationId xmlns:a16="http://schemas.microsoft.com/office/drawing/2014/main" id="{0150F77D-596A-45B8-B005-D6259E7D837A}"/>
              </a:ext>
            </a:extLst>
          </p:cNvPr>
          <p:cNvSpPr/>
          <p:nvPr/>
        </p:nvSpPr>
        <p:spPr>
          <a:xfrm>
            <a:off x="502919" y="1142999"/>
            <a:ext cx="2696067" cy="1534961"/>
          </a:xfrm>
          <a:prstGeom prst="roundRect">
            <a:avLst/>
          </a:prstGeom>
          <a:solidFill>
            <a:srgbClr val="073069"/>
          </a:solidFill>
          <a:ln>
            <a:solidFill>
              <a:srgbClr val="07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0B4EF0-E9FC-4070-B2D7-A9FC86EE5FF9}"/>
              </a:ext>
            </a:extLst>
          </p:cNvPr>
          <p:cNvSpPr txBox="1"/>
          <p:nvPr/>
        </p:nvSpPr>
        <p:spPr>
          <a:xfrm>
            <a:off x="704088" y="1270126"/>
            <a:ext cx="22798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YTD Total Loss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AAAF90-908E-4316-8CB4-11E1F2B25FB7}"/>
              </a:ext>
            </a:extLst>
          </p:cNvPr>
          <p:cNvSpPr txBox="1"/>
          <p:nvPr/>
        </p:nvSpPr>
        <p:spPr>
          <a:xfrm>
            <a:off x="704088" y="1588287"/>
            <a:ext cx="2279832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C44A45"/>
                </a:solidFill>
                <a:latin typeface="Aptos"/>
              </a:rPr>
              <a:t>-4,147,001 ฿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92A057-721A-4F03-8656-01776078B4DC}"/>
              </a:ext>
            </a:extLst>
          </p:cNvPr>
          <p:cNvSpPr txBox="1"/>
          <p:nvPr/>
        </p:nvSpPr>
        <p:spPr>
          <a:xfrm>
            <a:off x="704088" y="2103672"/>
            <a:ext cx="22798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FF6B6B"/>
                </a:solidFill>
                <a:latin typeface="Aptos"/>
              </a:rPr>
              <a:t>แย่ลงจากปีก่อน -183,864 ฿*</a:t>
            </a:r>
          </a:p>
        </p:txBody>
      </p:sp>
      <p:sp>
        <p:nvSpPr>
          <p:cNvPr id="81" name="Rounded Rectangle 9">
            <a:extLst>
              <a:ext uri="{FF2B5EF4-FFF2-40B4-BE49-F238E27FC236}">
                <a16:creationId xmlns:a16="http://schemas.microsoft.com/office/drawing/2014/main" id="{96660CDD-4642-48BA-BBCE-0C4214FEB716}"/>
              </a:ext>
            </a:extLst>
          </p:cNvPr>
          <p:cNvSpPr/>
          <p:nvPr/>
        </p:nvSpPr>
        <p:spPr>
          <a:xfrm>
            <a:off x="3273551" y="1142999"/>
            <a:ext cx="2696067" cy="1534961"/>
          </a:xfrm>
          <a:prstGeom prst="roundRect">
            <a:avLst/>
          </a:prstGeom>
          <a:solidFill>
            <a:srgbClr val="073069"/>
          </a:solidFill>
          <a:ln>
            <a:solidFill>
              <a:srgbClr val="07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9F7767-DDE7-413F-94A1-1B811770ED9B}"/>
              </a:ext>
            </a:extLst>
          </p:cNvPr>
          <p:cNvSpPr txBox="1"/>
          <p:nvPr/>
        </p:nvSpPr>
        <p:spPr>
          <a:xfrm>
            <a:off x="3474720" y="1270126"/>
            <a:ext cx="22798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YTD Sales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CA3A565-C915-4C6B-8415-AAC5A3555CEC}"/>
              </a:ext>
            </a:extLst>
          </p:cNvPr>
          <p:cNvSpPr txBox="1"/>
          <p:nvPr/>
        </p:nvSpPr>
        <p:spPr>
          <a:xfrm>
            <a:off x="3474720" y="1588287"/>
            <a:ext cx="2279832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99CC00"/>
                </a:solidFill>
                <a:latin typeface="Aptos"/>
              </a:rPr>
              <a:t>180,822,916 ฿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A9504E4-FF27-4C92-A431-39C29B4B70DC}"/>
              </a:ext>
            </a:extLst>
          </p:cNvPr>
          <p:cNvSpPr txBox="1"/>
          <p:nvPr/>
        </p:nvSpPr>
        <p:spPr>
          <a:xfrm>
            <a:off x="3474720" y="2111366"/>
            <a:ext cx="227983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 err="1">
                <a:solidFill>
                  <a:srgbClr val="BFBFBF"/>
                </a:solidFill>
                <a:latin typeface="Aptos"/>
              </a:rPr>
              <a:t>ไม่มีข้อมูลยอดขายปีก่อน</a:t>
            </a:r>
            <a:endParaRPr sz="1000" b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85" name="Rounded Rectangle 13">
            <a:extLst>
              <a:ext uri="{FF2B5EF4-FFF2-40B4-BE49-F238E27FC236}">
                <a16:creationId xmlns:a16="http://schemas.microsoft.com/office/drawing/2014/main" id="{CAC5FC79-8F0D-4061-BF5A-CE7186683209}"/>
              </a:ext>
            </a:extLst>
          </p:cNvPr>
          <p:cNvSpPr/>
          <p:nvPr/>
        </p:nvSpPr>
        <p:spPr>
          <a:xfrm>
            <a:off x="6044183" y="1142999"/>
            <a:ext cx="2696067" cy="1534961"/>
          </a:xfrm>
          <a:prstGeom prst="roundRect">
            <a:avLst/>
          </a:prstGeom>
          <a:solidFill>
            <a:srgbClr val="073069"/>
          </a:solidFill>
          <a:ln>
            <a:solidFill>
              <a:srgbClr val="07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BCA2B0-E57B-4100-9B91-67172E6376A1}"/>
              </a:ext>
            </a:extLst>
          </p:cNvPr>
          <p:cNvSpPr txBox="1"/>
          <p:nvPr/>
        </p:nvSpPr>
        <p:spPr>
          <a:xfrm>
            <a:off x="6245352" y="1270126"/>
            <a:ext cx="227983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YTD % Loss / Sales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B4383A2-0212-49B2-90A5-4817A8D80AED}"/>
              </a:ext>
            </a:extLst>
          </p:cNvPr>
          <p:cNvSpPr txBox="1"/>
          <p:nvPr/>
        </p:nvSpPr>
        <p:spPr>
          <a:xfrm>
            <a:off x="6245352" y="1588287"/>
            <a:ext cx="2279832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 dirty="0">
                <a:solidFill>
                  <a:srgbClr val="C44A45"/>
                </a:solidFill>
                <a:latin typeface="Aptos"/>
              </a:rPr>
              <a:t>-2.29%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DF8275-D624-4C7D-8818-F70B477E3F80}"/>
              </a:ext>
            </a:extLst>
          </p:cNvPr>
          <p:cNvSpPr txBox="1"/>
          <p:nvPr/>
        </p:nvSpPr>
        <p:spPr>
          <a:xfrm>
            <a:off x="6245352" y="2111366"/>
            <a:ext cx="2279832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 err="1">
                <a:solidFill>
                  <a:srgbClr val="BFBFBF"/>
                </a:solidFill>
                <a:latin typeface="Aptos"/>
              </a:rPr>
              <a:t>ไม่มีฐานปีก่อน (ไม่มียอดขาย LY)</a:t>
            </a:r>
            <a:endParaRPr sz="1000" b="0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89" name="Rounded Rectangle 17">
            <a:extLst>
              <a:ext uri="{FF2B5EF4-FFF2-40B4-BE49-F238E27FC236}">
                <a16:creationId xmlns:a16="http://schemas.microsoft.com/office/drawing/2014/main" id="{C87CC19F-D3AB-4843-994B-EE4F170CA26A}"/>
              </a:ext>
            </a:extLst>
          </p:cNvPr>
          <p:cNvSpPr/>
          <p:nvPr/>
        </p:nvSpPr>
        <p:spPr>
          <a:xfrm>
            <a:off x="8814816" y="1142999"/>
            <a:ext cx="2932564" cy="1534961"/>
          </a:xfrm>
          <a:prstGeom prst="roundRect">
            <a:avLst/>
          </a:prstGeom>
          <a:solidFill>
            <a:srgbClr val="073069"/>
          </a:solidFill>
          <a:ln>
            <a:solidFill>
              <a:srgbClr val="073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699858A-8656-48D0-92CC-3940CAA237BA}"/>
              </a:ext>
            </a:extLst>
          </p:cNvPr>
          <p:cNvSpPr txBox="1"/>
          <p:nvPr/>
        </p:nvSpPr>
        <p:spPr>
          <a:xfrm>
            <a:off x="9015983" y="1270126"/>
            <a:ext cx="2516329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MTD Total Loss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F94D2EF-C9DC-4152-89D2-49F0C418B437}"/>
              </a:ext>
            </a:extLst>
          </p:cNvPr>
          <p:cNvSpPr txBox="1"/>
          <p:nvPr/>
        </p:nvSpPr>
        <p:spPr>
          <a:xfrm>
            <a:off x="9015983" y="1588287"/>
            <a:ext cx="2516329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E69123"/>
                </a:solidFill>
                <a:latin typeface="Aptos"/>
              </a:rPr>
              <a:t>-367,967 ฿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577346-9B15-49F9-A9C1-1F3F5BA54695}"/>
              </a:ext>
            </a:extLst>
          </p:cNvPr>
          <p:cNvSpPr txBox="1"/>
          <p:nvPr/>
        </p:nvSpPr>
        <p:spPr>
          <a:xfrm>
            <a:off x="9015983" y="2111366"/>
            <a:ext cx="251632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AE571"/>
                </a:solidFill>
                <a:latin typeface="Aptos"/>
              </a:rPr>
              <a:t>ดีขึ้นจากปีก่อน +80,120 ฿*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8E824E9-BF07-4B27-B1D0-9B5B78F529E6}"/>
              </a:ext>
            </a:extLst>
          </p:cNvPr>
          <p:cNvSpPr txBox="1"/>
          <p:nvPr/>
        </p:nvSpPr>
        <p:spPr>
          <a:xfrm>
            <a:off x="594359" y="2823667"/>
            <a:ext cx="5297535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083065"/>
                </a:solidFill>
                <a:latin typeface="Aptos"/>
              </a:rPr>
              <a:t>YTD Loss</a:t>
            </a:r>
            <a:r>
              <a:rPr lang="en-US" sz="1700" b="1" dirty="0">
                <a:solidFill>
                  <a:srgbClr val="083065"/>
                </a:solidFill>
                <a:latin typeface="Aptos"/>
              </a:rPr>
              <a:t> </a:t>
            </a:r>
            <a:endParaRPr sz="1700" b="1" dirty="0">
              <a:solidFill>
                <a:srgbClr val="083065"/>
              </a:solidFill>
              <a:latin typeface="Apto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9427C2B-98D9-4D15-AD45-F90E4440F787}"/>
              </a:ext>
            </a:extLst>
          </p:cNvPr>
          <p:cNvSpPr txBox="1"/>
          <p:nvPr/>
        </p:nvSpPr>
        <p:spPr>
          <a:xfrm>
            <a:off x="640079" y="3330417"/>
            <a:ext cx="108788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97580"/>
                </a:solidFill>
                <a:latin typeface="Aptos"/>
              </a:rPr>
              <a:t>Damage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96F58C0-FD1A-4B8B-B2B6-34BA8392B7EC}"/>
              </a:ext>
            </a:extLst>
          </p:cNvPr>
          <p:cNvSpPr/>
          <p:nvPr/>
        </p:nvSpPr>
        <p:spPr>
          <a:xfrm>
            <a:off x="1737359" y="3337560"/>
            <a:ext cx="3310959" cy="296406"/>
          </a:xfrm>
          <a:prstGeom prst="rect">
            <a:avLst/>
          </a:prstGeom>
          <a:solidFill>
            <a:srgbClr val="C44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5270846-EA1E-4B80-B58E-456DCB3DA40D}"/>
              </a:ext>
            </a:extLst>
          </p:cNvPr>
          <p:cNvSpPr txBox="1"/>
          <p:nvPr/>
        </p:nvSpPr>
        <p:spPr>
          <a:xfrm>
            <a:off x="5074919" y="3338112"/>
            <a:ext cx="118248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32D37"/>
                </a:solidFill>
                <a:latin typeface="Aptos"/>
              </a:rPr>
              <a:t>-2,343,406 ฿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AFEAC64-EFFC-4DDB-A9B4-C63A9CA92F0F}"/>
              </a:ext>
            </a:extLst>
          </p:cNvPr>
          <p:cNvSpPr txBox="1"/>
          <p:nvPr/>
        </p:nvSpPr>
        <p:spPr>
          <a:xfrm>
            <a:off x="640079" y="4043649"/>
            <a:ext cx="108788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97580"/>
                </a:solidFill>
                <a:latin typeface="Aptos"/>
              </a:rPr>
              <a:t>Shrinkage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ADC0FE6-1A20-460D-BF85-DBAC9AF373BB}"/>
              </a:ext>
            </a:extLst>
          </p:cNvPr>
          <p:cNvSpPr/>
          <p:nvPr/>
        </p:nvSpPr>
        <p:spPr>
          <a:xfrm>
            <a:off x="1737359" y="4050792"/>
            <a:ext cx="531741" cy="296406"/>
          </a:xfrm>
          <a:prstGeom prst="rect">
            <a:avLst/>
          </a:prstGeom>
          <a:solidFill>
            <a:srgbClr val="E6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0D52C0-D4CD-493B-806C-E8B89933AF14}"/>
              </a:ext>
            </a:extLst>
          </p:cNvPr>
          <p:cNvSpPr txBox="1"/>
          <p:nvPr/>
        </p:nvSpPr>
        <p:spPr>
          <a:xfrm>
            <a:off x="5074919" y="4051344"/>
            <a:ext cx="118248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32D37"/>
                </a:solidFill>
                <a:latin typeface="Aptos"/>
              </a:rPr>
              <a:t>-376,352 ฿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9A47733-7F09-4327-A697-0864E5CB0ABC}"/>
              </a:ext>
            </a:extLst>
          </p:cNvPr>
          <p:cNvSpPr txBox="1"/>
          <p:nvPr/>
        </p:nvSpPr>
        <p:spPr>
          <a:xfrm>
            <a:off x="640079" y="4756881"/>
            <a:ext cx="108788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97580"/>
                </a:solidFill>
                <a:latin typeface="Aptos"/>
              </a:rPr>
              <a:t>RTC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BA45974-2BBF-49FC-AA97-2B7C63742E8B}"/>
              </a:ext>
            </a:extLst>
          </p:cNvPr>
          <p:cNvSpPr/>
          <p:nvPr/>
        </p:nvSpPr>
        <p:spPr>
          <a:xfrm>
            <a:off x="1737360" y="4764024"/>
            <a:ext cx="2016528" cy="296406"/>
          </a:xfrm>
          <a:prstGeom prst="rect">
            <a:avLst/>
          </a:prstGeom>
          <a:solidFill>
            <a:srgbClr val="137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D34B4B8-FF61-4417-84BC-89885490C737}"/>
              </a:ext>
            </a:extLst>
          </p:cNvPr>
          <p:cNvSpPr txBox="1"/>
          <p:nvPr/>
        </p:nvSpPr>
        <p:spPr>
          <a:xfrm>
            <a:off x="5074919" y="4764576"/>
            <a:ext cx="1182485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232D37"/>
                </a:solidFill>
                <a:latin typeface="Aptos"/>
              </a:rPr>
              <a:t>-1,427,243 ฿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74F1EC1-0E23-4AB7-A4EB-96F080D4B60A}"/>
              </a:ext>
            </a:extLst>
          </p:cNvPr>
          <p:cNvSpPr txBox="1"/>
          <p:nvPr/>
        </p:nvSpPr>
        <p:spPr>
          <a:xfrm>
            <a:off x="6446520" y="2983049"/>
            <a:ext cx="501373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dirty="0">
                <a:solidFill>
                  <a:srgbClr val="083065"/>
                </a:solidFill>
                <a:latin typeface="Aptos"/>
              </a:rPr>
              <a:t>Key message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FF0253D-8C02-40C9-9F63-08ACB3F8D623}"/>
              </a:ext>
            </a:extLst>
          </p:cNvPr>
          <p:cNvSpPr txBox="1"/>
          <p:nvPr/>
        </p:nvSpPr>
        <p:spPr>
          <a:xfrm>
            <a:off x="6446520" y="3642995"/>
            <a:ext cx="5202936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232D37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• Loss YTD -4.15 ล้าน฿ (-2.29%) และ MTD -0.37 ล้าน฿ (-1.82%)</a:t>
            </a:r>
            <a:endParaRPr sz="2000" dirty="0">
              <a:solidFill>
                <a:srgbClr val="073069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sz="2000" b="0" dirty="0">
                <a:solidFill>
                  <a:srgbClr val="232D37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• Fresh Food เป็น Division ที่มี Loss สูงสุดทั้ง YTD และ MTD</a:t>
            </a:r>
            <a:endParaRPr sz="2000" dirty="0">
              <a:solidFill>
                <a:srgbClr val="073069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l"/>
            <a:r>
              <a:rPr sz="2000" b="0" dirty="0">
                <a:solidFill>
                  <a:srgbClr val="232D37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• Dry Food ลดลง ก.ย. ต่ำสุดของปี · RTC Fresh Food สูงขึ้น</a:t>
            </a:r>
            <a:endParaRPr sz="2000" dirty="0">
              <a:solidFill>
                <a:srgbClr val="073069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001" name="TextBox LY note">
            <a:extLst>
              <a:ext uri="{FF2B5EF4-FFF2-40B4-BE49-F238E27FC236}">
                <a16:creationId xmlns:a16="http://schemas.microsoft.com/office/drawing/2014/main" id="{78E824E9-BF07-4B27-B1D0-9B5B78F529E6}"/>
              </a:ext>
            </a:extLst>
          </p:cNvPr>
          <p:cNvSpPr txBox="1"/>
          <p:nvPr/>
        </p:nvSpPr>
        <p:spPr>
          <a:xfrm>
            <a:off x="594359" y="5300000"/>
            <a:ext cx="1120000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083065"/>
                </a:solidFill>
                <a:latin typeface="Aptos"/>
              </a:rPr>
              <a:t>* LY จากรายงาน Loss รายแผนก มีเฉพาะแถวที่มีข้อมูลปีนี้ และ RTC ปีก่อนในไฟล์ต่ำมาก จึงเทียบได้จำกัด · ตัวเลขรวม 5 ฝ่าย ไม่รวม Pharmacy</a:t>
            </a:r>
            <a:endParaRPr sz="1700" b="1" dirty="0">
              <a:solidFill>
                <a:srgbClr val="08306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6163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10" y="-92279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513277" y="72742"/>
            <a:ext cx="7305472" cy="518867"/>
          </a:xfrm>
        </p:spPr>
        <p:txBody>
          <a:bodyPr>
            <a:normAutofit fontScale="99688"/>
          </a:bodyPr>
          <a:lstStyle/>
          <a:p>
            <a:r>
              <a:rPr sz="2400">
                <a:solidFill>
                  <a:schemeClr val="bg1"/>
                </a:solidFill>
                <a:latin typeface="Tahoma"/>
                <a:ea typeface="Tahoma"/>
                <a:cs typeface="Tahoma"/>
              </a:rPr>
              <a:t>Loss Performance Store : 11252 Sainoi</a:t>
            </a:r>
          </a:p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57C4C-5083-629C-B045-2DC3F45024D6}"/>
              </a:ext>
            </a:extLst>
          </p:cNvPr>
          <p:cNvSpPr>
            <a:spLocks noGrp="1"/>
          </p:cNvSpPr>
          <p:nvPr/>
        </p:nvSpPr>
        <p:spPr>
          <a:xfrm>
            <a:off x="9075032" y="913260"/>
            <a:ext cx="3116968" cy="4638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r>
              <a:rPr sz="2000" b="1">
                <a:solidFill>
                  <a:schemeClr val="bg1"/>
                </a:solidFill>
              </a:rPr>
              <a:t>YTD 01 JAN - 30 SEP 2026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9BA457-1451-49F8-B310-479194E08B21}"/>
              </a:ext>
            </a:extLst>
          </p:cNvPr>
          <p:cNvSpPr>
            <a:spLocks noGrp="1"/>
          </p:cNvSpPr>
          <p:nvPr/>
        </p:nvSpPr>
        <p:spPr>
          <a:xfrm>
            <a:off x="8278655" y="1450875"/>
            <a:ext cx="2631619" cy="20637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r>
              <a:rPr sz="1400" b="1">
                <a:solidFill>
                  <a:schemeClr val="bg1"/>
                </a:solidFill>
              </a:rPr>
              <a:t>MTD SEP 2026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89FF0-AA90-4B94-A043-2018245E1B6A}"/>
              </a:ext>
            </a:extLst>
          </p:cNvPr>
          <p:cNvSpPr>
            <a:spLocks noGrp="1"/>
          </p:cNvSpPr>
          <p:nvPr/>
        </p:nvSpPr>
        <p:spPr>
          <a:xfrm>
            <a:off x="8278655" y="1908224"/>
            <a:ext cx="334409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6">
                    <a:lumMod val="75000"/>
                  </a:schemeClr>
                </a:solidFill>
                <a:latin typeface="BrowalliaUPC"/>
                <a:ea typeface="BrowalliaUPC"/>
                <a:cs typeface="BrowalliaUPC"/>
              </a:rPr>
              <a:t>YTD LOSS แย่ลง 183,864 ฿*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72C0ED-835B-4BE0-A1F0-161F6AF0B051}"/>
              </a:ext>
            </a:extLst>
          </p:cNvPr>
          <p:cNvSpPr>
            <a:spLocks noGrp="1"/>
          </p:cNvSpPr>
          <p:nvPr/>
        </p:nvSpPr>
        <p:spPr>
          <a:xfrm>
            <a:off x="8278655" y="2311696"/>
            <a:ext cx="334409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chemeClr val="accent6">
                    <a:lumMod val="75000"/>
                  </a:schemeClr>
                </a:solidFill>
                <a:latin typeface="BrowalliaUPC"/>
                <a:ea typeface="BrowalliaUPC"/>
                <a:cs typeface="BrowalliaUPC"/>
              </a:rPr>
              <a:t>MTD LOSS ดีขึ้น 80,120 ฿*</a:t>
            </a:r>
          </a:p>
          <a:p>
            <a:endParaRPr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09754-691D-4F3E-A40A-E2C43B75DFB0}"/>
              </a:ext>
            </a:extLst>
          </p:cNvPr>
          <p:cNvSpPr>
            <a:spLocks noGrp="1"/>
          </p:cNvSpPr>
          <p:nvPr/>
        </p:nvSpPr>
        <p:spPr>
          <a:xfrm>
            <a:off x="8153974" y="2727165"/>
            <a:ext cx="35934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0000"/>
                </a:solidFill>
                <a:latin typeface="BrowalliaUPC"/>
                <a:ea typeface="BrowalliaUPC"/>
                <a:cs typeface="BrowalliaUPC"/>
              </a:rPr>
              <a:t>%LOSS YTD = -2.29%</a:t>
            </a:r>
          </a:p>
          <a:p>
            <a:endParaRPr>
              <a:solidFill>
                <a:srgbClr val="FF0000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BDB4BD1-177D-4F5C-A67F-BD99061A9834}"/>
              </a:ext>
            </a:extLst>
          </p:cNvPr>
          <p:cNvSpPr>
            <a:spLocks noGrp="1"/>
          </p:cNvSpPr>
          <p:nvPr/>
        </p:nvSpPr>
        <p:spPr>
          <a:xfrm rot="5400000">
            <a:off x="11381162" y="2857971"/>
            <a:ext cx="191587" cy="232954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636378-491E-DD9E-15CB-A7E004FDED12}"/>
              </a:ext>
            </a:extLst>
          </p:cNvPr>
          <p:cNvSpPr>
            <a:spLocks noGrp="1"/>
          </p:cNvSpPr>
          <p:nvPr/>
        </p:nvSpPr>
        <p:spPr>
          <a:xfrm>
            <a:off x="632530" y="1211580"/>
            <a:ext cx="52578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14300" dist="381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8AB6F8F-6CAB-C162-D01A-6792DC6C5658}"/>
              </a:ext>
            </a:extLst>
          </p:cNvPr>
          <p:cNvSpPr>
            <a:spLocks noGrp="1"/>
          </p:cNvSpPr>
          <p:nvPr/>
        </p:nvSpPr>
        <p:spPr>
          <a:xfrm>
            <a:off x="632530" y="121158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1F497D"/>
          </a:solidFill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5DF2179-B166-3E93-EE32-9E96AE3DEA1F}"/>
              </a:ext>
            </a:extLst>
          </p:cNvPr>
          <p:cNvSpPr>
            <a:spLocks noGrp="1"/>
          </p:cNvSpPr>
          <p:nvPr/>
        </p:nvSpPr>
        <p:spPr>
          <a:xfrm>
            <a:off x="632530" y="1668780"/>
            <a:ext cx="5257800" cy="320040"/>
          </a:xfrm>
          <a:prstGeom prst="rect">
            <a:avLst/>
          </a:prstGeom>
          <a:solidFill>
            <a:srgbClr val="1F497D"/>
          </a:solidFill>
        </p:spPr>
      </p:sp>
      <p:pic>
        <p:nvPicPr>
          <p:cNvPr id="61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2" y="1412748"/>
            <a:ext cx="384048" cy="38404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71207F4C-0229-06FA-C648-4D1893983085}"/>
              </a:ext>
            </a:extLst>
          </p:cNvPr>
          <p:cNvSpPr>
            <a:spLocks noGrp="1"/>
          </p:cNvSpPr>
          <p:nvPr/>
        </p:nvSpPr>
        <p:spPr>
          <a:xfrm>
            <a:off x="1409770" y="1303020"/>
            <a:ext cx="43434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MTD กันยายน</a:t>
            </a:r>
            <a:endParaRPr sz="160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F7581D19-9B0A-663E-2EB6-29D4D64BAED6}"/>
              </a:ext>
            </a:extLst>
          </p:cNvPr>
          <p:cNvSpPr>
            <a:spLocks noGrp="1"/>
          </p:cNvSpPr>
          <p:nvPr/>
        </p:nvSpPr>
        <p:spPr>
          <a:xfrm>
            <a:off x="952570" y="230886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รวมยอด Loss</a:t>
            </a:r>
            <a:endParaRPr sz="12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9AA8319-D2CC-3C9D-F1BE-BB00714DAC75}"/>
              </a:ext>
            </a:extLst>
          </p:cNvPr>
          <p:cNvSpPr>
            <a:spLocks noGrp="1"/>
          </p:cNvSpPr>
          <p:nvPr/>
        </p:nvSpPr>
        <p:spPr>
          <a:xfrm>
            <a:off x="952570" y="256489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 dirty="0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-367,967 ฿</a:t>
            </a:r>
            <a:endParaRPr sz="21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C01D2E89-0CF0-2471-6FC6-D59BE77F3ABF}"/>
              </a:ext>
            </a:extLst>
          </p:cNvPr>
          <p:cNvSpPr>
            <a:spLocks noGrp="1"/>
          </p:cNvSpPr>
          <p:nvPr/>
        </p:nvSpPr>
        <p:spPr>
          <a:xfrm>
            <a:off x="952570" y="3003804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dirty="0" err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ปีก่อน*: -448,087 ฿</a:t>
            </a:r>
            <a:endParaRPr sz="10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0FE8C22-9761-5A23-49B9-DE216E9BD06F}"/>
              </a:ext>
            </a:extLst>
          </p:cNvPr>
          <p:cNvSpPr>
            <a:spLocks noGrp="1"/>
          </p:cNvSpPr>
          <p:nvPr/>
        </p:nvSpPr>
        <p:spPr>
          <a:xfrm>
            <a:off x="952570" y="347929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ยอดขาย</a:t>
            </a:r>
            <a:endParaRPr sz="12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B2435C63-FE0E-403C-3385-4E4B5C6C3C34}"/>
              </a:ext>
            </a:extLst>
          </p:cNvPr>
          <p:cNvSpPr>
            <a:spLocks noGrp="1"/>
          </p:cNvSpPr>
          <p:nvPr/>
        </p:nvSpPr>
        <p:spPr>
          <a:xfrm>
            <a:off x="952570" y="3735324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20,230,513 ฿</a:t>
            </a:r>
            <a:endParaRPr sz="210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97C6332-EE57-20D8-635E-32F4C5BA1176}"/>
              </a:ext>
            </a:extLst>
          </p:cNvPr>
          <p:cNvSpPr>
            <a:spLocks noGrp="1"/>
          </p:cNvSpPr>
          <p:nvPr/>
        </p:nvSpPr>
        <p:spPr>
          <a:xfrm>
            <a:off x="952570" y="4174236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ปีก่อน: ไม่มีข้อมูล</a:t>
            </a:r>
            <a:endParaRPr sz="105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0842147B-6047-F3F2-6594-C9FB4415D277}"/>
              </a:ext>
            </a:extLst>
          </p:cNvPr>
          <p:cNvSpPr>
            <a:spLocks noGrp="1"/>
          </p:cNvSpPr>
          <p:nvPr/>
        </p:nvSpPr>
        <p:spPr>
          <a:xfrm>
            <a:off x="952570" y="464972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% Loss / ยอดขาย</a:t>
            </a:r>
            <a:endParaRPr sz="120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DFFC46B7-937A-3DAD-CF49-380DF2C41B0C}"/>
              </a:ext>
            </a:extLst>
          </p:cNvPr>
          <p:cNvSpPr>
            <a:spLocks noGrp="1"/>
          </p:cNvSpPr>
          <p:nvPr/>
        </p:nvSpPr>
        <p:spPr>
          <a:xfrm>
            <a:off x="952570" y="4905756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-1.82%</a:t>
            </a:r>
            <a:endParaRPr sz="210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A053982D-8735-55AA-4FFE-FB0908A439C0}"/>
              </a:ext>
            </a:extLst>
          </p:cNvPr>
          <p:cNvSpPr>
            <a:spLocks noGrp="1"/>
          </p:cNvSpPr>
          <p:nvPr/>
        </p:nvSpPr>
        <p:spPr>
          <a:xfrm>
            <a:off x="952570" y="5344668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ปีก่อน: ไม่มีข้อมูล</a:t>
            </a:r>
            <a:endParaRPr sz="105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EF117F85-E0B2-6902-EE39-BC7252223CF6}"/>
              </a:ext>
            </a:extLst>
          </p:cNvPr>
          <p:cNvSpPr>
            <a:spLocks noGrp="1"/>
          </p:cNvSpPr>
          <p:nvPr/>
        </p:nvSpPr>
        <p:spPr>
          <a:xfrm>
            <a:off x="6438970" y="1211580"/>
            <a:ext cx="525780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14300" dist="38100" dir="5400000" algn="bl" rotWithShape="0">
              <a:srgbClr val="9AA5B1">
                <a:alpha val="20000"/>
              </a:srgbClr>
            </a:outerShdw>
          </a:effectLst>
        </p:spPr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E59787C7-3E41-34F5-5E86-AC05A0C0CE0F}"/>
              </a:ext>
            </a:extLst>
          </p:cNvPr>
          <p:cNvSpPr>
            <a:spLocks noGrp="1"/>
          </p:cNvSpPr>
          <p:nvPr/>
        </p:nvSpPr>
        <p:spPr>
          <a:xfrm>
            <a:off x="6438970" y="121158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1F497D"/>
          </a:solidFill>
        </p:spPr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DAED70DC-E593-57DD-5EA5-AD0DC5B76AF2}"/>
              </a:ext>
            </a:extLst>
          </p:cNvPr>
          <p:cNvSpPr>
            <a:spLocks noGrp="1"/>
          </p:cNvSpPr>
          <p:nvPr/>
        </p:nvSpPr>
        <p:spPr>
          <a:xfrm>
            <a:off x="6438970" y="1668780"/>
            <a:ext cx="5257800" cy="320040"/>
          </a:xfrm>
          <a:prstGeom prst="rect">
            <a:avLst/>
          </a:prstGeom>
          <a:solidFill>
            <a:srgbClr val="1F497D"/>
          </a:solidFill>
        </p:spPr>
      </p:sp>
      <p:pic>
        <p:nvPicPr>
          <p:cNvPr id="75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002" y="1412748"/>
            <a:ext cx="384048" cy="384048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C92C5F2F-FE7F-C9EE-0AA4-03AA4CE09716}"/>
              </a:ext>
            </a:extLst>
          </p:cNvPr>
          <p:cNvSpPr>
            <a:spLocks noGrp="1"/>
          </p:cNvSpPr>
          <p:nvPr/>
        </p:nvSpPr>
        <p:spPr>
          <a:xfrm>
            <a:off x="7216210" y="1303020"/>
            <a:ext cx="43434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YTD (ม.ค.–ก.ย.)</a:t>
            </a:r>
            <a:endParaRPr sz="160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D9093EAD-3A19-ACDE-6CF9-4B9C058055F1}"/>
              </a:ext>
            </a:extLst>
          </p:cNvPr>
          <p:cNvSpPr>
            <a:spLocks noGrp="1"/>
          </p:cNvSpPr>
          <p:nvPr/>
        </p:nvSpPr>
        <p:spPr>
          <a:xfrm>
            <a:off x="6759010" y="230886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รวมยอด Loss</a:t>
            </a:r>
            <a:endParaRPr sz="120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36035C0B-6B0E-4ED9-B209-5B7E35020B05}"/>
              </a:ext>
            </a:extLst>
          </p:cNvPr>
          <p:cNvSpPr>
            <a:spLocks noGrp="1"/>
          </p:cNvSpPr>
          <p:nvPr/>
        </p:nvSpPr>
        <p:spPr>
          <a:xfrm>
            <a:off x="6759010" y="2564892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-4,147,001 ฿</a:t>
            </a:r>
            <a:endParaRPr sz="210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64413291-D566-F46E-1961-D1498D676549}"/>
              </a:ext>
            </a:extLst>
          </p:cNvPr>
          <p:cNvSpPr>
            <a:spLocks noGrp="1"/>
          </p:cNvSpPr>
          <p:nvPr/>
        </p:nvSpPr>
        <p:spPr>
          <a:xfrm>
            <a:off x="6759010" y="3003804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ปีก่อน*: -3,963,137 ฿</a:t>
            </a:r>
            <a:endParaRPr sz="105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329D53AA-1085-8FAF-0137-1146EB45F1E9}"/>
              </a:ext>
            </a:extLst>
          </p:cNvPr>
          <p:cNvSpPr>
            <a:spLocks noGrp="1"/>
          </p:cNvSpPr>
          <p:nvPr/>
        </p:nvSpPr>
        <p:spPr>
          <a:xfrm>
            <a:off x="6759010" y="347929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ยอดขาย</a:t>
            </a:r>
            <a:endParaRPr sz="120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9502776A-0F2A-23A8-A582-0E1DFD676EF1}"/>
              </a:ext>
            </a:extLst>
          </p:cNvPr>
          <p:cNvSpPr>
            <a:spLocks noGrp="1"/>
          </p:cNvSpPr>
          <p:nvPr/>
        </p:nvSpPr>
        <p:spPr>
          <a:xfrm>
            <a:off x="6759010" y="3735324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180,822,916 ฿</a:t>
            </a:r>
            <a:endParaRPr sz="2100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CC3741A4-10FC-3E54-4A1F-AD9791B6450A}"/>
              </a:ext>
            </a:extLst>
          </p:cNvPr>
          <p:cNvSpPr>
            <a:spLocks noGrp="1"/>
          </p:cNvSpPr>
          <p:nvPr/>
        </p:nvSpPr>
        <p:spPr>
          <a:xfrm>
            <a:off x="6759010" y="4174236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ปีก่อน: ไม่มีข้อมูล</a:t>
            </a:r>
            <a:endParaRPr sz="1050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FF6F7BE8-6712-1AF2-1AC9-CBECF53E4F6C}"/>
              </a:ext>
            </a:extLst>
          </p:cNvPr>
          <p:cNvSpPr>
            <a:spLocks noGrp="1"/>
          </p:cNvSpPr>
          <p:nvPr/>
        </p:nvSpPr>
        <p:spPr>
          <a:xfrm>
            <a:off x="6759010" y="464972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% Loss / ยอดขาย</a:t>
            </a:r>
            <a:endParaRPr sz="1200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53096EBB-74C8-890D-C18B-C21E55E4D20C}"/>
              </a:ext>
            </a:extLst>
          </p:cNvPr>
          <p:cNvSpPr>
            <a:spLocks noGrp="1"/>
          </p:cNvSpPr>
          <p:nvPr/>
        </p:nvSpPr>
        <p:spPr>
          <a:xfrm>
            <a:off x="6759010" y="4905756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1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-2.29%</a:t>
            </a:r>
            <a:endParaRPr sz="210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7C9086F4-F97F-81F4-C8B4-FEB5E2634A43}"/>
              </a:ext>
            </a:extLst>
          </p:cNvPr>
          <p:cNvSpPr>
            <a:spLocks noGrp="1"/>
          </p:cNvSpPr>
          <p:nvPr/>
        </p:nvSpPr>
        <p:spPr>
          <a:xfrm>
            <a:off x="6759010" y="5344668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ปีก่อน: ไม่มีข้อมูล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69262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BAD9-A4D0-4A6A-6206-F9744C9D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E46E5F-4218-859A-0D7B-D17061321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895" y="0"/>
            <a:ext cx="8596105" cy="80507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Performance Store : 11252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036AB6-E9AC-DF16-876A-22851830F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021450"/>
              </p:ext>
            </p:extLst>
          </p:nvPr>
        </p:nvGraphicFramePr>
        <p:xfrm>
          <a:off x="427983" y="1299479"/>
          <a:ext cx="11390765" cy="3284449"/>
        </p:xfrm>
        <a:graphic>
          <a:graphicData uri="http://schemas.openxmlformats.org/drawingml/2006/table">
            <a:tbl>
              <a:tblPr/>
              <a:tblGrid>
                <a:gridCol w="1349226">
                  <a:extLst>
                    <a:ext uri="{9D8B030D-6E8A-4147-A177-3AD203B41FA5}">
                      <a16:colId xmlns:a16="http://schemas.microsoft.com/office/drawing/2014/main" val="4043602191"/>
                    </a:ext>
                  </a:extLst>
                </a:gridCol>
                <a:gridCol w="1155713">
                  <a:extLst>
                    <a:ext uri="{9D8B030D-6E8A-4147-A177-3AD203B41FA5}">
                      <a16:colId xmlns:a16="http://schemas.microsoft.com/office/drawing/2014/main" val="2248097673"/>
                    </a:ext>
                  </a:extLst>
                </a:gridCol>
                <a:gridCol w="1020740">
                  <a:extLst>
                    <a:ext uri="{9D8B030D-6E8A-4147-A177-3AD203B41FA5}">
                      <a16:colId xmlns:a16="http://schemas.microsoft.com/office/drawing/2014/main" val="3997535792"/>
                    </a:ext>
                  </a:extLst>
                </a:gridCol>
                <a:gridCol w="1029176">
                  <a:extLst>
                    <a:ext uri="{9D8B030D-6E8A-4147-A177-3AD203B41FA5}">
                      <a16:colId xmlns:a16="http://schemas.microsoft.com/office/drawing/2014/main" val="4068331383"/>
                    </a:ext>
                  </a:extLst>
                </a:gridCol>
                <a:gridCol w="1062918">
                  <a:extLst>
                    <a:ext uri="{9D8B030D-6E8A-4147-A177-3AD203B41FA5}">
                      <a16:colId xmlns:a16="http://schemas.microsoft.com/office/drawing/2014/main" val="3718518280"/>
                    </a:ext>
                  </a:extLst>
                </a:gridCol>
                <a:gridCol w="1096662">
                  <a:extLst>
                    <a:ext uri="{9D8B030D-6E8A-4147-A177-3AD203B41FA5}">
                      <a16:colId xmlns:a16="http://schemas.microsoft.com/office/drawing/2014/main" val="2029286359"/>
                    </a:ext>
                  </a:extLst>
                </a:gridCol>
                <a:gridCol w="1096662">
                  <a:extLst>
                    <a:ext uri="{9D8B030D-6E8A-4147-A177-3AD203B41FA5}">
                      <a16:colId xmlns:a16="http://schemas.microsoft.com/office/drawing/2014/main" val="4211253006"/>
                    </a:ext>
                  </a:extLst>
                </a:gridCol>
                <a:gridCol w="995432">
                  <a:extLst>
                    <a:ext uri="{9D8B030D-6E8A-4147-A177-3AD203B41FA5}">
                      <a16:colId xmlns:a16="http://schemas.microsoft.com/office/drawing/2014/main" val="2010606952"/>
                    </a:ext>
                  </a:extLst>
                </a:gridCol>
                <a:gridCol w="861412">
                  <a:extLst>
                    <a:ext uri="{9D8B030D-6E8A-4147-A177-3AD203B41FA5}">
                      <a16:colId xmlns:a16="http://schemas.microsoft.com/office/drawing/2014/main" val="2624462630"/>
                    </a:ext>
                  </a:extLst>
                </a:gridCol>
                <a:gridCol w="861412">
                  <a:extLst>
                    <a:ext uri="{9D8B030D-6E8A-4147-A177-3AD203B41FA5}">
                      <a16:colId xmlns:a16="http://schemas.microsoft.com/office/drawing/2014/main" val="2922754482"/>
                    </a:ext>
                  </a:extLst>
                </a:gridCol>
                <a:gridCol w="861412">
                  <a:extLst>
                    <a:ext uri="{9D8B030D-6E8A-4147-A177-3AD203B41FA5}">
                      <a16:colId xmlns:a16="http://schemas.microsoft.com/office/drawing/2014/main" val="1604701151"/>
                    </a:ext>
                  </a:extLst>
                </a:gridCol>
              </a:tblGrid>
              <a:tr h="389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DIV_NAME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Damage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 Damage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RTC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 RTC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Shrinkage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 Shrinkage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loss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 loss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%VS B0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%VS LY</a:t>
                      </a:r>
                    </a:p>
                  </a:txBody>
                  <a:tcPr marL="6522" marR="6522" marT="65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54791"/>
                  </a:ext>
                </a:extLst>
              </a:tr>
              <a:tr h="34720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 HARD LINE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-0.01%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237618"/>
                  </a:ext>
                </a:extLst>
              </a:tr>
              <a:tr h="55023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02 HOME LINE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-0.43%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-0.78%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355098"/>
                  </a:ext>
                </a:extLst>
              </a:tr>
              <a:tr h="3892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03 SOFT LINE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-0.12%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-0.34%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70502"/>
                  </a:ext>
                </a:extLst>
              </a:tr>
              <a:tr h="3892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04 DRY FOOD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-736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-0.68%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-276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-0.26%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-342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-0.32%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-1,355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-1.25%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646220"/>
                  </a:ext>
                </a:extLst>
              </a:tr>
              <a:tr h="3892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05 FRESH FOOD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-1,537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-4.08%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-1,142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-3.03%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+0.07%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-2,652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-7.03%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194872"/>
                  </a:ext>
                </a:extLst>
              </a:tr>
              <a:tr h="4406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06 PHARMACY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922115"/>
                  </a:ext>
                </a:extLst>
              </a:tr>
              <a:tr h="3892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</a:p>
                  </a:txBody>
                  <a:tcPr marL="6522" marR="6522" marT="6522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-2,343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-1.30%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-1,427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-376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-0.21%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-4,147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-2.29%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80808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4665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5B57C4C-5083-629C-B045-2DC3F45024D6}"/>
              </a:ext>
            </a:extLst>
          </p:cNvPr>
          <p:cNvSpPr/>
          <p:nvPr/>
        </p:nvSpPr>
        <p:spPr>
          <a:xfrm>
            <a:off x="8378687" y="721226"/>
            <a:ext cx="3538332" cy="33650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FF0000"/>
                </a:solidFill>
              </a:rPr>
              <a:t>YTD Jan – SEP 2026 Unit : KB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D1A98-27B1-4904-BFDC-E4833D1E5125}"/>
              </a:ext>
            </a:extLst>
          </p:cNvPr>
          <p:cNvSpPr txBox="1"/>
          <p:nvPr/>
        </p:nvSpPr>
        <p:spPr>
          <a:xfrm>
            <a:off x="3125632" y="1096916"/>
            <a:ext cx="9405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D60F1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TY.DAM/TY.SALE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3F843-896F-40B2-952F-9B826A672E8B}"/>
              </a:ext>
            </a:extLst>
          </p:cNvPr>
          <p:cNvSpPr txBox="1"/>
          <p:nvPr/>
        </p:nvSpPr>
        <p:spPr>
          <a:xfrm>
            <a:off x="5281896" y="1099424"/>
            <a:ext cx="9405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D60F1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TY.RTC/TY.SALE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B8679A-3D8A-47E6-9765-3BCBF6B3FFAF}"/>
              </a:ext>
            </a:extLst>
          </p:cNvPr>
          <p:cNvSpPr txBox="1"/>
          <p:nvPr/>
        </p:nvSpPr>
        <p:spPr>
          <a:xfrm>
            <a:off x="7423684" y="1094011"/>
            <a:ext cx="9405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>
                <a:solidFill>
                  <a:srgbClr val="D60F1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TY.Shr</a:t>
            </a:r>
            <a:r>
              <a:rPr lang="en-US" sz="700" dirty="0">
                <a:solidFill>
                  <a:srgbClr val="D60F1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/TY.SALE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70D0F-3E50-489C-BDEA-7EA1824AAA72}"/>
              </a:ext>
            </a:extLst>
          </p:cNvPr>
          <p:cNvSpPr txBox="1"/>
          <p:nvPr/>
        </p:nvSpPr>
        <p:spPr>
          <a:xfrm>
            <a:off x="10249616" y="1080463"/>
            <a:ext cx="8267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D60F1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LOSS%/B0%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2ACFC-F8CE-4FA9-BBDF-725B5647AEBC}"/>
              </a:ext>
            </a:extLst>
          </p:cNvPr>
          <p:cNvSpPr txBox="1"/>
          <p:nvPr/>
        </p:nvSpPr>
        <p:spPr>
          <a:xfrm>
            <a:off x="9387467" y="1076690"/>
            <a:ext cx="9405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D60F1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TY.LOSS/TY.SALE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677" y="5100000"/>
            <a:ext cx="6113003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808080"/>
                </a:solidFill>
                <a:latin typeface="Aptos"/>
              </a:rPr>
              <a:t>*ไม่มีข้อมูล Budget (B0) และยอดขายปีก่อนในรายงาน คอลัมน์ %VS B0 และ %VS LY จึงแสดงเป็น N/A</a:t>
            </a:r>
          </a:p>
          <a:p>
            <a:r>
              <a:rPr sz="1200" i="1">
                <a:solidFill>
                  <a:srgbClr val="808080"/>
                </a:solidFill>
                <a:latin typeface="Aptos"/>
              </a:rPr>
              <a:t>Pharmacy: รายงานให้เฉพาะยอดรวม (YTD +1,254 ฿ = นับเกิน) ไม่แยก Damage/RTC/Shrinkage และไม่รวมใน TOTAL</a:t>
            </a:r>
          </a:p>
        </p:txBody>
      </p:sp>
    </p:spTree>
    <p:extLst>
      <p:ext uri="{BB962C8B-B14F-4D97-AF65-F5344CB8AC3E}">
        <p14:creationId xmlns:p14="http://schemas.microsoft.com/office/powerpoint/2010/main" val="44576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67" y="839456"/>
            <a:ext cx="6259033" cy="597460"/>
          </a:xfrm>
          <a:prstGeom prst="rect">
            <a:avLst/>
          </a:prstGeom>
        </p:spPr>
      </p:pic>
      <p:pic>
        <p:nvPicPr>
          <p:cNvPr id="4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610" y="-92279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fontScale="99688"/>
          </a:bodyPr>
          <a:lstStyle/>
          <a:p>
            <a:r>
              <a:rPr sz="2400">
                <a:solidFill>
                  <a:schemeClr val="bg1"/>
                </a:solidFill>
                <a:latin typeface="Tahoma"/>
                <a:ea typeface="Tahoma"/>
                <a:cs typeface="Tahoma"/>
              </a:rPr>
              <a:t>Loss Performance Store : 11252 Sainoi</a:t>
            </a:r>
          </a:p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57C4C-5083-629C-B045-2DC3F45024D6}"/>
              </a:ext>
            </a:extLst>
          </p:cNvPr>
          <p:cNvSpPr>
            <a:spLocks noGrp="1"/>
          </p:cNvSpPr>
          <p:nvPr/>
        </p:nvSpPr>
        <p:spPr>
          <a:xfrm>
            <a:off x="9075032" y="913260"/>
            <a:ext cx="3116968" cy="4638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endParaRPr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C2EE0D-6644-4310-8DC4-0D8FE8CCF5BF}"/>
              </a:ext>
            </a:extLst>
          </p:cNvPr>
          <p:cNvSpPr>
            <a:spLocks noGrp="1"/>
          </p:cNvSpPr>
          <p:nvPr/>
        </p:nvSpPr>
        <p:spPr>
          <a:xfrm>
            <a:off x="7340212" y="1147943"/>
            <a:ext cx="3700467" cy="162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20"/>
              </a:lnSpc>
              <a:buNone/>
            </a:pPr>
            <a:r>
              <a:rPr sz="2800" b="1">
                <a:solidFill>
                  <a:schemeClr val="bg1"/>
                </a:solidFill>
                <a:latin typeface="BrowalliaUPC"/>
                <a:ea typeface="BrowalliaUPC"/>
                <a:cs typeface="BrowalliaUPC"/>
              </a:rPr>
              <a:t>Loss Performance Store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9BA457-1451-49F8-B310-479194E08B21}"/>
              </a:ext>
            </a:extLst>
          </p:cNvPr>
          <p:cNvSpPr>
            <a:spLocks noGrp="1"/>
          </p:cNvSpPr>
          <p:nvPr/>
        </p:nvSpPr>
        <p:spPr>
          <a:xfrm>
            <a:off x="7759222" y="1755440"/>
            <a:ext cx="2631619" cy="20637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r>
              <a:rPr sz="1400" b="1">
                <a:solidFill>
                  <a:schemeClr val="bg1"/>
                </a:solidFill>
              </a:rPr>
              <a:t>YTD 01 JAN - 30 SEP 2026</a:t>
            </a:r>
            <a:endParaRPr sz="14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BE26C-2DDC-4552-99A8-CACF311F3A4A}"/>
              </a:ext>
            </a:extLst>
          </p:cNvPr>
          <p:cNvSpPr>
            <a:spLocks noGrp="1"/>
          </p:cNvSpPr>
          <p:nvPr/>
        </p:nvSpPr>
        <p:spPr>
          <a:xfrm>
            <a:off x="8321879" y="906236"/>
            <a:ext cx="3496869" cy="59746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r>
              <a:rPr sz="2000" b="1">
                <a:solidFill>
                  <a:schemeClr val="bg1"/>
                </a:solidFill>
              </a:rPr>
              <a:t>YTD 01 JAN – 30 SEP 2026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E78A2F9-8504-0818-B662-889FFC509842}"/>
              </a:ext>
            </a:extLst>
          </p:cNvPr>
          <p:cNvSpPr>
            <a:spLocks noGrp="1"/>
          </p:cNvSpPr>
          <p:nvPr/>
        </p:nvSpPr>
        <p:spPr>
          <a:xfrm>
            <a:off x="640080" y="1305495"/>
            <a:ext cx="220378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ม.ค.–ก.ย. · เทียบปีนี้กับปีที่แล้ว</a:t>
            </a:r>
            <a:endParaRPr sz="1350"/>
          </a:p>
        </p:txBody>
      </p:sp>
      <p:graphicFrame>
        <p:nvGraphicFramePr>
          <p:cNvPr id="56" name="Chart 0"/>
          <p:cNvGraphicFramePr/>
          <p:nvPr/>
        </p:nvGraphicFramePr>
        <p:xfrm>
          <a:off x="548640" y="1927287"/>
          <a:ext cx="64008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2">
            <a:extLst>
              <a:ext uri="{FF2B5EF4-FFF2-40B4-BE49-F238E27FC236}">
                <a16:creationId xmlns:a16="http://schemas.microsoft.com/office/drawing/2014/main" id="{C51BD79F-A911-0434-B03A-06D42232D9E3}"/>
              </a:ext>
            </a:extLst>
          </p:cNvPr>
          <p:cNvSpPr>
            <a:spLocks noGrp="1"/>
          </p:cNvSpPr>
          <p:nvPr/>
        </p:nvSpPr>
        <p:spPr>
          <a:xfrm>
            <a:off x="7315200" y="2018727"/>
            <a:ext cx="4389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9AA5B1">
                <a:alpha val="15000"/>
              </a:srgb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228B57F5-222E-1E1C-33BF-24DED075B7D7}"/>
              </a:ext>
            </a:extLst>
          </p:cNvPr>
          <p:cNvSpPr>
            <a:spLocks noGrp="1"/>
          </p:cNvSpPr>
          <p:nvPr/>
        </p:nvSpPr>
        <p:spPr>
          <a:xfrm>
            <a:off x="7516368" y="227475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1FB"/>
          </a:solidFill>
        </p:spPr>
      </p:sp>
      <p:pic>
        <p:nvPicPr>
          <p:cNvPr id="59" name="Image 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2366199"/>
            <a:ext cx="320040" cy="320040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B8BA6EA4-EE3A-9389-BC01-8E40CD8993F9}"/>
              </a:ext>
            </a:extLst>
          </p:cNvPr>
          <p:cNvSpPr>
            <a:spLocks noGrp="1"/>
          </p:cNvSpPr>
          <p:nvPr/>
        </p:nvSpPr>
        <p:spPr>
          <a:xfrm>
            <a:off x="8138160" y="2219895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C0504D"/>
                </a:solidFill>
                <a:latin typeface="Cambria"/>
                <a:ea typeface="Cambria"/>
                <a:cs typeface="Cambria"/>
              </a:rPr>
              <a:t>DAMAGE</a:t>
            </a:r>
            <a:endParaRPr sz="15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48AF0D9-487F-E3F0-E198-B764745D1C0E}"/>
              </a:ext>
            </a:extLst>
          </p:cNvPr>
          <p:cNvSpPr>
            <a:spLocks noGrp="1"/>
          </p:cNvSpPr>
          <p:nvPr/>
        </p:nvSpPr>
        <p:spPr>
          <a:xfrm>
            <a:off x="8138160" y="2530791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-2,343,406 ฿</a:t>
            </a:r>
            <a:endParaRPr sz="1600"/>
          </a:p>
        </p:txBody>
      </p:sp>
      <p:pic>
        <p:nvPicPr>
          <p:cNvPr id="62" name="Imag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951415"/>
            <a:ext cx="201168" cy="201168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23277941-3DE7-F302-BB0C-77741618D1FD}"/>
              </a:ext>
            </a:extLst>
          </p:cNvPr>
          <p:cNvSpPr>
            <a:spLocks noGrp="1"/>
          </p:cNvSpPr>
          <p:nvPr/>
        </p:nvSpPr>
        <p:spPr>
          <a:xfrm>
            <a:off x="8394192" y="2914839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+334,400 (+12.5%)</a:t>
            </a:r>
            <a:endParaRPr sz="120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ECD72DD-4338-3520-452C-E0E538223BD5}"/>
              </a:ext>
            </a:extLst>
          </p:cNvPr>
          <p:cNvSpPr>
            <a:spLocks noGrp="1"/>
          </p:cNvSpPr>
          <p:nvPr/>
        </p:nvSpPr>
        <p:spPr>
          <a:xfrm>
            <a:off x="10195560" y="2530791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ปีก่อน* -2,677,806</a:t>
            </a:r>
            <a:endParaRPr sz="95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F7860AA8-72E0-820B-3244-E822332ADE41}"/>
              </a:ext>
            </a:extLst>
          </p:cNvPr>
          <p:cNvSpPr>
            <a:spLocks noGrp="1"/>
          </p:cNvSpPr>
          <p:nvPr/>
        </p:nvSpPr>
        <p:spPr>
          <a:xfrm>
            <a:off x="7315200" y="3536631"/>
            <a:ext cx="4389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9AA5B1">
                <a:alpha val="15000"/>
              </a:srgbClr>
            </a:outerShdw>
          </a:effectLst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67AD518E-9D65-4671-D180-4865320EE462}"/>
              </a:ext>
            </a:extLst>
          </p:cNvPr>
          <p:cNvSpPr>
            <a:spLocks noGrp="1"/>
          </p:cNvSpPr>
          <p:nvPr/>
        </p:nvSpPr>
        <p:spPr>
          <a:xfrm>
            <a:off x="7516368" y="3792663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1FB"/>
          </a:solidFill>
        </p:spPr>
      </p:sp>
      <p:pic>
        <p:nvPicPr>
          <p:cNvPr id="67" name="Imag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3884103"/>
            <a:ext cx="320040" cy="320040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AADEC3A2-66FE-DFB7-D245-FF561546DC49}"/>
              </a:ext>
            </a:extLst>
          </p:cNvPr>
          <p:cNvSpPr>
            <a:spLocks noGrp="1"/>
          </p:cNvSpPr>
          <p:nvPr/>
        </p:nvSpPr>
        <p:spPr>
          <a:xfrm>
            <a:off x="8138160" y="3737799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2E6CA4"/>
                </a:solidFill>
                <a:latin typeface="Cambria"/>
                <a:ea typeface="Cambria"/>
                <a:cs typeface="Cambria"/>
              </a:rPr>
              <a:t>SHRINKAGE</a:t>
            </a:r>
            <a:endParaRPr sz="150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50F4A3EC-3AF6-E7D7-B6D0-DAF6144D1DB5}"/>
              </a:ext>
            </a:extLst>
          </p:cNvPr>
          <p:cNvSpPr>
            <a:spLocks noGrp="1"/>
          </p:cNvSpPr>
          <p:nvPr/>
        </p:nvSpPr>
        <p:spPr>
          <a:xfrm>
            <a:off x="8138160" y="4048695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-376,352 ฿</a:t>
            </a:r>
            <a:endParaRPr sz="1600"/>
          </a:p>
        </p:txBody>
      </p:sp>
      <p:pic>
        <p:nvPicPr>
          <p:cNvPr id="70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469319"/>
            <a:ext cx="201168" cy="201168"/>
          </a:xfrm>
          <a:prstGeom prst="rect">
            <a:avLst/>
          </a:prstGeom>
        </p:spPr>
      </p:pic>
      <p:sp>
        <p:nvSpPr>
          <p:cNvPr id="29" name="Text 12">
            <a:extLst>
              <a:ext uri="{FF2B5EF4-FFF2-40B4-BE49-F238E27FC236}">
                <a16:creationId xmlns:a16="http://schemas.microsoft.com/office/drawing/2014/main" id="{A340F95C-04E1-98C5-D5DC-4CB6B1EAAA6B}"/>
              </a:ext>
            </a:extLst>
          </p:cNvPr>
          <p:cNvSpPr>
            <a:spLocks noGrp="1"/>
          </p:cNvSpPr>
          <p:nvPr/>
        </p:nvSpPr>
        <p:spPr>
          <a:xfrm>
            <a:off x="8394192" y="4432743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+501,046 (+57.1%)</a:t>
            </a:r>
            <a:endParaRPr sz="120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F84536AB-E1F5-E56D-95DB-188B2D0D3E79}"/>
              </a:ext>
            </a:extLst>
          </p:cNvPr>
          <p:cNvSpPr>
            <a:spLocks noGrp="1"/>
          </p:cNvSpPr>
          <p:nvPr/>
        </p:nvSpPr>
        <p:spPr>
          <a:xfrm>
            <a:off x="10195560" y="4048695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ปีก่อน* -877,398</a:t>
            </a:r>
            <a:endParaRPr sz="95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3499FF6-DB51-6490-9A8F-403566453640}"/>
              </a:ext>
            </a:extLst>
          </p:cNvPr>
          <p:cNvSpPr>
            <a:spLocks noGrp="1"/>
          </p:cNvSpPr>
          <p:nvPr/>
        </p:nvSpPr>
        <p:spPr>
          <a:xfrm>
            <a:off x="7315200" y="5054535"/>
            <a:ext cx="438912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9AA5B1">
                <a:alpha val="15000"/>
              </a:srgbClr>
            </a:outerShdw>
          </a:effectLst>
        </p:spPr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539A1E9B-E640-2F2D-E4F2-23F10F18B639}"/>
              </a:ext>
            </a:extLst>
          </p:cNvPr>
          <p:cNvSpPr>
            <a:spLocks noGrp="1"/>
          </p:cNvSpPr>
          <p:nvPr/>
        </p:nvSpPr>
        <p:spPr>
          <a:xfrm>
            <a:off x="7516368" y="5310567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1FB"/>
          </a:solidFill>
        </p:spPr>
      </p:sp>
      <p:pic>
        <p:nvPicPr>
          <p:cNvPr id="75" name="Imag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7808" y="5402007"/>
            <a:ext cx="320040" cy="320040"/>
          </a:xfrm>
          <a:prstGeom prst="rect">
            <a:avLst/>
          </a:prstGeom>
        </p:spPr>
      </p:pic>
      <p:sp>
        <p:nvSpPr>
          <p:cNvPr id="34" name="Text 16">
            <a:extLst>
              <a:ext uri="{FF2B5EF4-FFF2-40B4-BE49-F238E27FC236}">
                <a16:creationId xmlns:a16="http://schemas.microsoft.com/office/drawing/2014/main" id="{BEE5628B-A451-F060-674E-8DEC25249086}"/>
              </a:ext>
            </a:extLst>
          </p:cNvPr>
          <p:cNvSpPr>
            <a:spLocks noGrp="1"/>
          </p:cNvSpPr>
          <p:nvPr/>
        </p:nvSpPr>
        <p:spPr>
          <a:xfrm>
            <a:off x="8138160" y="5255703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E08A1E"/>
                </a:solidFill>
                <a:latin typeface="Cambria"/>
                <a:ea typeface="Cambria"/>
                <a:cs typeface="Cambria"/>
              </a:rPr>
              <a:t>RTC</a:t>
            </a:r>
            <a:endParaRPr sz="1500"/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CF9E6980-758D-8E70-1DEB-F3A4A07DCFB7}"/>
              </a:ext>
            </a:extLst>
          </p:cNvPr>
          <p:cNvSpPr>
            <a:spLocks noGrp="1"/>
          </p:cNvSpPr>
          <p:nvPr/>
        </p:nvSpPr>
        <p:spPr>
          <a:xfrm>
            <a:off x="8138160" y="5566599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-1,427,243 ฿</a:t>
            </a:r>
            <a:endParaRPr sz="1600"/>
          </a:p>
        </p:txBody>
      </p:sp>
      <p:pic>
        <p:nvPicPr>
          <p:cNvPr id="78" name="Imag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5987223"/>
            <a:ext cx="201168" cy="201168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C60DCDCF-5559-EB9C-37C5-316886B5295D}"/>
              </a:ext>
            </a:extLst>
          </p:cNvPr>
          <p:cNvSpPr>
            <a:spLocks noGrp="1"/>
          </p:cNvSpPr>
          <p:nvPr/>
        </p:nvSpPr>
        <p:spPr>
          <a:xfrm>
            <a:off x="8394192" y="5950647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-1,010,728 (-242.7%)</a:t>
            </a:r>
            <a:endParaRPr sz="120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71A9AAD7-5915-B9AE-5C9A-7F6D3EEAF99E}"/>
              </a:ext>
            </a:extLst>
          </p:cNvPr>
          <p:cNvSpPr>
            <a:spLocks noGrp="1"/>
          </p:cNvSpPr>
          <p:nvPr/>
        </p:nvSpPr>
        <p:spPr>
          <a:xfrm>
            <a:off x="10195560" y="5566599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90A4AE"/>
                </a:solidFill>
                <a:latin typeface="Calibri"/>
                <a:ea typeface="Calibri"/>
                <a:cs typeface="Calibri"/>
              </a:rPr>
              <a:t>ปีก่อน* -416,515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76219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BAD9-A4D0-4A6A-6206-F9744C9D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C4005-4311-47D1-B6B5-4EEE5D4D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10" y="-68061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3927" y="-36818"/>
            <a:ext cx="4129549" cy="814486"/>
          </a:xfrm>
        </p:spPr>
        <p:txBody>
          <a:bodyPr>
            <a:normAutofit fontScale="92500" lnSpcReduction="10000"/>
          </a:bodyPr>
          <a:lstStyle/>
          <a:p>
            <a:r>
              <a:rPr lang="en-US" sz="5400" dirty="0">
                <a:solidFill>
                  <a:schemeClr val="bg1"/>
                </a:solidFill>
                <a:latin typeface="BrowalliaUPC" panose="020B0604020202020204" pitchFamily="34" charset="-34"/>
                <a:cs typeface="BrowalliaUPC" panose="020B0604020202020204" pitchFamily="34" charset="-34"/>
              </a:rPr>
              <a:t>Flop 20.Item YTD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0000" y="950000"/>
          <a:ext cx="11500000" cy="48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0000"/>
                <a:gridCol w="1150000"/>
                <a:gridCol w="2500000"/>
                <a:gridCol w="1600000"/>
                <a:gridCol w="880000"/>
                <a:gridCol w="760000"/>
                <a:gridCol w="820000"/>
                <a:gridCol w="820000"/>
                <a:gridCol w="820000"/>
                <a:gridCol w="1000000"/>
                <a:gridCol w="850000"/>
              </a:tblGrid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#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BARCODE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สินค้า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แผนก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จำนวนสูญเสีย</a:t>
                      </a:r>
                    </a:p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(Dmg+Shr)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จำนวน RTC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Damage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Shrinkage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RTC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รวม LOSS YTD (฿)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MTD ก.ย. (฿)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218580000000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ทุเรียนหมอนทอง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0530 PRODUCE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161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2,786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-39,787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78567"/>
                          </a:solidFill>
                          <a:latin typeface="Tahoma"/>
                        </a:rPr>
                        <a:t>+16,611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-116,132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-139,308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-44,882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8850170000797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SMSบุหรี่แดง (M)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0490 TOBACCO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1,350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-81,737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-81,737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8850170000803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SMS บุหรี่ เขียว(M)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0490 TOBACCO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810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-49,042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-49,042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2000008120678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ปลาซาบะไซส์400-600 กรัม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394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-7,880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-32,195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-40,075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-10,094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210008000005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WRFสันนอกหมู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0510 BUTCHERY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278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100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-4,448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-30,135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-5,225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-39,808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-4,160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2000003703081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WRF_ไข่ไก่คละขนาด แพ็ค 30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0560 PERISHABLE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69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687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-350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-7,555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-24,440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-32,345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-817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211125000008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WRFหมูสามชั้นตัดแต่ง กก ละ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0510 BUTCHERY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108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158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-15,307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-1,478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-9,438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-26,223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-228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2001006959659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น้ำมันพืช(ปี๊ป18ลิตร)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0520 SEAFOOD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-349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-24,479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-24,828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-2,946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214784000006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องุ่นแดงนอก (GSA)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0530 PRODUCE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374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-4,088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-10,277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-8,537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-22,902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-13,673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211312000002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WRFปีกบนไก่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0510 BUTCHERY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242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55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-16,120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-4,667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-1,670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-22,457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-651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8850170000155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บุหรี่กรองทิพย์90(M)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0490 TOBACCO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-21,850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-21,850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76164040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แอล แอนด์ เอ็ม แดง ซองอ่อน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0490 TOBACCO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-18,823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-18,823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215690000005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ขาหมูเยอรมัน BTG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240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-17,030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-17,030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-2,113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2000007287242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เนื้อปลาแพนกาเซียส(DIP)DELICA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-1,669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-14,702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-16,371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-151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211320000001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WRFอกไก่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0510 BUTCHERY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190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-19,568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78567"/>
                          </a:solidFill>
                          <a:latin typeface="Tahoma"/>
                        </a:rPr>
                        <a:t>+4,601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-800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-15,767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1,949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259886000004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WRF_แก้วมังกรเวียดนาม กก.ละ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0530 PRODUCE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300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115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-7,646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-6,311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-1,627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-15,584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-3,154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2000008548977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ซอฟต์เสิร์ฟโกโก้แช่แข็ง6กก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-586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-14,736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-15,322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8857120010943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เนื้อสันแหลมโคขุนสเต็กแช่แข็ง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0510 BUTCHERY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-9,036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-475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-4,791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-14,302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-4,280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76164064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แอล แอนด์เอ็ม (เขียว) ซองอ่อน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0490 TOBACCO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150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-14,117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-14,117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232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210961000005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WE ARE FRESHมะละกอปลักไม้ลาย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0530 PRODUCE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209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60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-9,682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-3,343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263238"/>
                          </a:solidFill>
                          <a:latin typeface="Tahoma"/>
                        </a:rPr>
                        <a:t>-1,037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-14,062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C0504D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0000" y="6480000"/>
            <a:ext cx="11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0A4AE"/>
                </a:solidFill>
                <a:latin typeface="Tahoma"/>
              </a:rPr>
              <a:t>Top 20 รวม 641,953 ฿ ≈ 15% ของ Loss YTD ทั้งสาขา · จำนวนสูญเสีย = -(NETADJ_QTY ของ Damage+Shrinkage) หน่วยตามหน่วยขาย (ชิ้น/กก.) · Shrinkage สีเขียว = นับเกิน · แผนกตาม DEPARTMENT_NAME</a:t>
            </a:r>
          </a:p>
        </p:txBody>
      </p:sp>
    </p:spTree>
    <p:extLst>
      <p:ext uri="{BB962C8B-B14F-4D97-AF65-F5344CB8AC3E}">
        <p14:creationId xmlns:p14="http://schemas.microsoft.com/office/powerpoint/2010/main" val="81376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29DE-A439-D108-AB05-F58B1EDE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79D278-012B-152D-3870-B77B33997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09750" y="0"/>
            <a:ext cx="9418056" cy="51886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 plan  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F2D99E8-4FBF-E4C6-111F-F2DEAAEDC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74285"/>
              </p:ext>
            </p:extLst>
          </p:nvPr>
        </p:nvGraphicFramePr>
        <p:xfrm>
          <a:off x="394252" y="837330"/>
          <a:ext cx="11424497" cy="496164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80906">
                  <a:extLst>
                    <a:ext uri="{9D8B030D-6E8A-4147-A177-3AD203B41FA5}">
                      <a16:colId xmlns:a16="http://schemas.microsoft.com/office/drawing/2014/main" val="50567754"/>
                    </a:ext>
                  </a:extLst>
                </a:gridCol>
                <a:gridCol w="2647936">
                  <a:extLst>
                    <a:ext uri="{9D8B030D-6E8A-4147-A177-3AD203B41FA5}">
                      <a16:colId xmlns:a16="http://schemas.microsoft.com/office/drawing/2014/main" val="2465639924"/>
                    </a:ext>
                  </a:extLst>
                </a:gridCol>
                <a:gridCol w="3519578">
                  <a:extLst>
                    <a:ext uri="{9D8B030D-6E8A-4147-A177-3AD203B41FA5}">
                      <a16:colId xmlns:a16="http://schemas.microsoft.com/office/drawing/2014/main" val="1011173274"/>
                    </a:ext>
                  </a:extLst>
                </a:gridCol>
                <a:gridCol w="1992702">
                  <a:extLst>
                    <a:ext uri="{9D8B030D-6E8A-4147-A177-3AD203B41FA5}">
                      <a16:colId xmlns:a16="http://schemas.microsoft.com/office/drawing/2014/main" val="3843171633"/>
                    </a:ext>
                  </a:extLst>
                </a:gridCol>
                <a:gridCol w="1062985">
                  <a:extLst>
                    <a:ext uri="{9D8B030D-6E8A-4147-A177-3AD203B41FA5}">
                      <a16:colId xmlns:a16="http://schemas.microsoft.com/office/drawing/2014/main" val="1439720936"/>
                    </a:ext>
                  </a:extLst>
                </a:gridCol>
                <a:gridCol w="1620390">
                  <a:extLst>
                    <a:ext uri="{9D8B030D-6E8A-4147-A177-3AD203B41FA5}">
                      <a16:colId xmlns:a16="http://schemas.microsoft.com/office/drawing/2014/main" val="3308817400"/>
                    </a:ext>
                  </a:extLst>
                </a:gridCol>
              </a:tblGrid>
              <a:tr h="455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Root 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402925"/>
                  </a:ext>
                </a:extLst>
              </a:tr>
              <a:tr h="1027257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sng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Dry Food</a:t>
                      </a:r>
                      <a:br>
                        <a:rPr lang="en-US" sz="1100" u="sng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100" u="sng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Damage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สินค้าหมดอายุลดราคาและยังขายไม่หมด เนื่องจากไม่เป็นที่นิยมและราคาสูง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th-TH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แผนกและพีซีร่วมกันตรวจสอบสินค้าใกล้หมดอายุใน 2 เดือนถัดไป ในแต่ละแผนกตั้งแต่วันที่ 15 ของเดือน เพื่อทำการส่งข้อมูลใน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Pilot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ทำการขอลดราคาตามขั้นตอน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LP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และแผนกตรวจสอบรายการสินค้า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Nearly Expire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ที่ได้มาจากระบบทุกวันอังคาร และดำเนินการลดราคาสินค้าตามขั้นตอน กรณีพบสินค้าที่ใกล้หมดอายุ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สินค้าที่มีพีซีดูแล หากพบหมดอายุโดยไม่ทำตามขั้นตอน  ให้ต้นสังกัดเป็นผู้รับผิดชอบความเสียหาย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สินค้าที่มีการทำลายที่มีมูลค่า 500 บาทต่อ 1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Item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จะต้องแจ้งให้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ทราบและอนุมัติ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Stockroom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ต้องได้ตาม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ทุกวัน เพื่อลดสินค้าเสียหายและหมดอายุใน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Stockroom</a:t>
                      </a:r>
                      <a:endParaRPr lang="th-TH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,M.Opt,C3,C9,LP</a:t>
                      </a:r>
                      <a:endParaRPr lang="th-TH" sz="110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 – Dec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ตรวจสอบรายการที่ต้องส่ง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Pilot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ทุกๆ วันที่ 25 ของทุกเดือน</a:t>
                      </a:r>
                    </a:p>
                    <a:p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2.ทุกวันศุกร์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ตรวจสอบรายการ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Nearly Expire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จาก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Report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ที่ชั้นวางและสต็อคอีกครั้ง</a:t>
                      </a:r>
                    </a:p>
                    <a:p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.Duty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บ่ายตรวจสอบห้อง </a:t>
                      </a:r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Repack </a:t>
                      </a:r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ทุกวันต้องเคลียร์เรียบร้อยไม่มีสินค้ารอลดราคาเหลืออยู่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54746"/>
                  </a:ext>
                </a:extLst>
              </a:tr>
              <a:tr h="970218">
                <a:tc>
                  <a:txBody>
                    <a:bodyPr/>
                    <a:lstStyle/>
                    <a:p>
                      <a:pPr algn="ctr"/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sng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Fresfood</a:t>
                      </a:r>
                      <a:endParaRPr lang="en-US" sz="1100" u="sng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r>
                        <a:rPr lang="en-US" sz="1100" u="sng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Damage</a:t>
                      </a:r>
                    </a:p>
                    <a:p>
                      <a:r>
                        <a:rPr lang="en-US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r>
                        <a:rPr lang="th-TH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สินค้าสินค้าตามฤดูกาลซึ่งซึ่งเสื่อมสภาพตามกาลเวลาทำลดราคาขายตามขั้นตอนขายไม่หมด เช่น ทุเรียนหมอนทอง</a:t>
                      </a:r>
                    </a:p>
                    <a:p>
                      <a:r>
                        <a:rPr lang="th-TH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-สินค้า ทำการลดราคาขายตามขั้นตอนขายไม่หมด เช่น </a:t>
                      </a:r>
                      <a:r>
                        <a:rPr lang="en-US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 ARE FRESH</a:t>
                      </a:r>
                      <a:r>
                        <a:rPr lang="th-TH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มะละกอปลักไม้ลาย</a:t>
                      </a:r>
                      <a:r>
                        <a:rPr lang="en-US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</a:t>
                      </a:r>
                      <a:endParaRPr lang="th-TH" sz="1100" u="none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แผนกพยายามผลักดันขายสินค้าที่มีการทำลดราคาในตอนเย็นทุกๆวัน เพื่อลดการทำลายสินค้าที่ขายไม่หมด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แผนกต้องตรวจสอบ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Confirm Order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ทุกวันจันทร์ เพื่อวางแผนการขายสินค้าและหากสินค้า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Overstock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จะได้ดำเนินการแก้ไขได้ทัน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และ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M.Opt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สุ่มตรวจสอบสินค้าในแผนกตู้แช่ที่มีจำนวนเยอะหน้าร้านทุกๆวัน ว่ามีการ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FIFO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หรือใกล้หมดอายุหรือไม่ เพื่อดำเนินการแก้ไขได้ทันท่วงที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,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M.Opt,C</a:t>
                      </a:r>
                      <a:r>
                        <a:rPr lang="th-TH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,C9,LP</a:t>
                      </a:r>
                      <a:endParaRPr lang="th-TH" sz="110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 – Dec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และ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M.Opt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(กรณี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หยุด) สุ่มตรววจสอบสินค้าที่มีจำนวนเยอะหน้าร้านทุกวัน </a:t>
                      </a:r>
                    </a:p>
                    <a:p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ตรวจสอบ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Confirm Order FF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ทุกวันจันทร์และทุกวันพุธตรวจสอบ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POM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อีกครั้ง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75110"/>
                  </a:ext>
                </a:extLst>
              </a:tr>
              <a:tr h="970218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sng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Dry Food</a:t>
                      </a:r>
                    </a:p>
                    <a:p>
                      <a:r>
                        <a:rPr lang="en-US" sz="1100" u="sng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Shrinkage</a:t>
                      </a:r>
                    </a:p>
                    <a:p>
                      <a:r>
                        <a:rPr lang="en-US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r>
                        <a:rPr lang="th-TH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-มีการปรับปรุง</a:t>
                      </a:r>
                      <a:r>
                        <a:rPr lang="en-US" sz="1100" u="none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negative stock</a:t>
                      </a:r>
                    </a:p>
                    <a:p>
                      <a:endParaRPr lang="th-TH" sz="1100" u="none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LP,GR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และแผนกทำการตรวจสอบสินค้าที่รับจากดีซีทุกครั้งและติดตามกรณีพบสินค้าขาดส่ง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Stockroom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ต้องได้ตาม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Standard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ทุกวัน เพื่อตรวจสอบได้ง่าย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,M.Opt,C3,C9,LP</a:t>
                      </a:r>
                      <a:endParaRPr lang="th-TH" sz="110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 – Dec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LP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สุ่มตรวจสอบสินค้าที่มาจากดีซีว่าเข้าครบหรือไม่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18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75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29DE-A439-D108-AB05-F58B1EDE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79D278-012B-152D-3870-B77B33997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 plan  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9F2D99E8-4FBF-E4C6-111F-F2DEAAEDC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72504"/>
              </p:ext>
            </p:extLst>
          </p:nvPr>
        </p:nvGraphicFramePr>
        <p:xfrm>
          <a:off x="394252" y="837330"/>
          <a:ext cx="11424497" cy="446367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80906">
                  <a:extLst>
                    <a:ext uri="{9D8B030D-6E8A-4147-A177-3AD203B41FA5}">
                      <a16:colId xmlns:a16="http://schemas.microsoft.com/office/drawing/2014/main" val="50567754"/>
                    </a:ext>
                  </a:extLst>
                </a:gridCol>
                <a:gridCol w="2647936">
                  <a:extLst>
                    <a:ext uri="{9D8B030D-6E8A-4147-A177-3AD203B41FA5}">
                      <a16:colId xmlns:a16="http://schemas.microsoft.com/office/drawing/2014/main" val="2465639924"/>
                    </a:ext>
                  </a:extLst>
                </a:gridCol>
                <a:gridCol w="3519578">
                  <a:extLst>
                    <a:ext uri="{9D8B030D-6E8A-4147-A177-3AD203B41FA5}">
                      <a16:colId xmlns:a16="http://schemas.microsoft.com/office/drawing/2014/main" val="1011173274"/>
                    </a:ext>
                  </a:extLst>
                </a:gridCol>
                <a:gridCol w="1992702">
                  <a:extLst>
                    <a:ext uri="{9D8B030D-6E8A-4147-A177-3AD203B41FA5}">
                      <a16:colId xmlns:a16="http://schemas.microsoft.com/office/drawing/2014/main" val="3843171633"/>
                    </a:ext>
                  </a:extLst>
                </a:gridCol>
                <a:gridCol w="1212275">
                  <a:extLst>
                    <a:ext uri="{9D8B030D-6E8A-4147-A177-3AD203B41FA5}">
                      <a16:colId xmlns:a16="http://schemas.microsoft.com/office/drawing/2014/main" val="1439720936"/>
                    </a:ext>
                  </a:extLst>
                </a:gridCol>
                <a:gridCol w="1471100">
                  <a:extLst>
                    <a:ext uri="{9D8B030D-6E8A-4147-A177-3AD203B41FA5}">
                      <a16:colId xmlns:a16="http://schemas.microsoft.com/office/drawing/2014/main" val="3308817400"/>
                    </a:ext>
                  </a:extLst>
                </a:gridCol>
              </a:tblGrid>
              <a:tr h="45574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Root 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402925"/>
                  </a:ext>
                </a:extLst>
              </a:tr>
              <a:tr h="1027257">
                <a:tc>
                  <a:txBody>
                    <a:bodyPr/>
                    <a:lstStyle/>
                    <a:p>
                      <a:pPr algn="ctr"/>
                      <a:r>
                        <a:rPr lang="th-TH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</a:t>
                      </a: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sng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Freshfood</a:t>
                      </a:r>
                      <a:br>
                        <a:rPr lang="en-US" sz="1100" u="sng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ขายเกิน</a:t>
                      </a:r>
                      <a:r>
                        <a:rPr lang="en-US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recipe </a:t>
                      </a:r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ที่กำหนดจึงทำให้สินค้าสูญหาย เช่น ซอฟต์เสิร์ฟโกโก้แช่แข็ง</a:t>
                      </a:r>
                      <a:r>
                        <a:rPr lang="en-US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กก</a:t>
                      </a:r>
                    </a:p>
                    <a:p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ซอฟต์เสิร์ฟวานิลลาแช่แข็ง</a:t>
                      </a:r>
                      <a:r>
                        <a:rPr lang="en-US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กก.</a:t>
                      </a:r>
                      <a:r>
                        <a:rPr lang="en-US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น้ำทาร์ตไข่สำเร็จรูปแช่แข็ง</a:t>
                      </a:r>
                    </a:p>
                    <a:p>
                      <a:endParaRPr lang="th-TH" sz="1100" u="none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LP,GR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และแผนกทำการตรวจสอบสินค้าที่รับจากดีซีทุกครั้งโดยเฉพาะกลุ่มชีส เนย ที่มีราคาแพงและติดตามกรณีพบสินค้าขาดส่ง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 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C2,M Com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กำชับพนักงานเรื่องการขายสินค้าให้เป็นไปตามสำนักงานใหญ่กำหนด โดยเฉพาะสินค้าไอศครีม</a:t>
                      </a:r>
                      <a:r>
                        <a:rPr lang="th-TH" sz="1100" u="none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ซอฟต์เสิร์ฟ</a:t>
                      </a:r>
                      <a:endParaRPr lang="th-TH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M1 ,</a:t>
                      </a: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M.Opt,C</a:t>
                      </a:r>
                      <a:r>
                        <a:rPr lang="th-TH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,C9,LP</a:t>
                      </a:r>
                      <a:endParaRPr lang="th-TH" sz="1100" kern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 – Dec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LP </a:t>
                      </a:r>
                      <a:r>
                        <a:rPr lang="th-TH" sz="1100" kern="1200" dirty="0">
                          <a:solidFill>
                            <a:schemeClr val="dk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สุ่มตรวจสอบสินค้าที่มาจากดีซีว่าเข้าครบไหม</a:t>
                      </a:r>
                    </a:p>
                    <a:p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854746"/>
                  </a:ext>
                </a:extLst>
              </a:tr>
              <a:tr h="970218"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100" u="none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75110"/>
                  </a:ext>
                </a:extLst>
              </a:tr>
              <a:tr h="970218"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100" u="sng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th-TH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18440"/>
                  </a:ext>
                </a:extLst>
              </a:tr>
              <a:tr h="970218">
                <a:tc>
                  <a:txBody>
                    <a:bodyPr/>
                    <a:lstStyle/>
                    <a:p>
                      <a:pPr algn="ctr"/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kern="1200" dirty="0">
                        <a:solidFill>
                          <a:schemeClr val="dk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045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37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694E-5BED-4CA8-CFCE-8ADA6818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2FF27D-E7FE-2E9D-F7EB-BA7684A7C5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Loss Performance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1A23A4A-ECE3-F127-A070-3E50A61367C6}"/>
              </a:ext>
            </a:extLst>
          </p:cNvPr>
          <p:cNvGrpSpPr/>
          <p:nvPr/>
        </p:nvGrpSpPr>
        <p:grpSpPr>
          <a:xfrm>
            <a:off x="16042" y="1890428"/>
            <a:ext cx="12148128" cy="4799137"/>
            <a:chOff x="16042" y="1890428"/>
            <a:chExt cx="12148128" cy="479913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05AAF68-226F-371A-14FB-89B5BBD16607}"/>
                </a:ext>
              </a:extLst>
            </p:cNvPr>
            <p:cNvSpPr/>
            <p:nvPr/>
          </p:nvSpPr>
          <p:spPr>
            <a:xfrm>
              <a:off x="16042" y="2470484"/>
              <a:ext cx="12148128" cy="3075404"/>
            </a:xfrm>
            <a:prstGeom prst="rect">
              <a:avLst/>
            </a:prstGeom>
            <a:solidFill>
              <a:srgbClr val="A0C515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165752-8015-7E58-0BC4-ACB2FD1EE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4875" y="5767278"/>
              <a:ext cx="8442250" cy="92228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A657E36-4089-1BE9-2FE6-26CD6E5F9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186" y="2691874"/>
              <a:ext cx="1987658" cy="299077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BE99EF-2145-E707-1953-84DEE1D48B6D}"/>
                </a:ext>
              </a:extLst>
            </p:cNvPr>
            <p:cNvSpPr/>
            <p:nvPr/>
          </p:nvSpPr>
          <p:spPr>
            <a:xfrm>
              <a:off x="6602093" y="1890428"/>
              <a:ext cx="5546035" cy="23566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 defTabSz="914400"/>
              <a:r>
                <a:rPr lang="en-US" sz="5400" b="1" dirty="0">
                  <a:ln w="12700">
                    <a:solidFill>
                      <a:srgbClr val="549E39"/>
                    </a:solidFill>
                    <a:prstDash val="solid"/>
                  </a:ln>
                  <a:pattFill prst="pct50">
                    <a:fgClr>
                      <a:srgbClr val="549E39"/>
                    </a:fgClr>
                    <a:bgClr>
                      <a:srgbClr val="549E39">
                        <a:lumMod val="20000"/>
                        <a:lumOff val="80000"/>
                      </a:srgbClr>
                    </a:bgClr>
                  </a:pattFill>
                  <a:effectLst>
                    <a:outerShdw dist="38100" dir="2640000" algn="bl" rotWithShape="0">
                      <a:srgbClr val="549E39"/>
                    </a:outerShdw>
                  </a:effectLst>
                  <a:latin typeface="Arial" panose="020B0604020202020204"/>
                </a:rPr>
                <a:t>THANK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8298710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>
            <a:extLst>
              <a:ext uri="{FF2B5EF4-FFF2-40B4-BE49-F238E27FC236}">
                <a16:creationId xmlns:a16="http://schemas.microsoft.com/office/drawing/2014/main" id="{573C4005-4311-47D1-B6B5-4EEE5D4D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10" y="-68061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3927" y="-36818"/>
            <a:ext cx="4129549" cy="814486"/>
          </a:xfrm>
        </p:spPr>
        <p:txBody>
          <a:bodyPr>
            <a:normAutofit fontScale="92500" lnSpcReduction="10000"/>
          </a:bodyPr>
          <a:lstStyle/>
          <a:p>
            <a:r>
              <a:rPr lang="en-US" sz="5400" dirty="0">
                <a:solidFill>
                  <a:schemeClr val="bg1"/>
                </a:solidFill>
                <a:latin typeface="BrowalliaUPC" panose="020B0604020202020204" pitchFamily="34" charset="-34"/>
                <a:cs typeface="BrowalliaUPC" panose="020B0604020202020204" pitchFamily="34" charset="-34"/>
              </a:rPr>
              <a:t>Flop 10.Item MTD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0000" y="1100000"/>
          <a:ext cx="11500000" cy="36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0000"/>
                <a:gridCol w="1150000"/>
                <a:gridCol w="2500000"/>
                <a:gridCol w="1600000"/>
                <a:gridCol w="880000"/>
                <a:gridCol w="760000"/>
                <a:gridCol w="820000"/>
                <a:gridCol w="820000"/>
                <a:gridCol w="820000"/>
                <a:gridCol w="1000000"/>
                <a:gridCol w="85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#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BARCODE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สินค้า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แผนก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จำนวนสูญเสีย</a:t>
                      </a:r>
                    </a:p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(Dmg+Shr)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จำนวน RTC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Damage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Shrinkage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RTC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รวม LOSS MTD (฿)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90A4AE"/>
                          </a:solidFill>
                          <a:latin typeface="Tahoma"/>
                        </a:rPr>
                        <a:t>YTD (฿)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218580000000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ทุเรียนหมอนทอง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0530 PRODUCE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172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496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-2,907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-19,656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-22,319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-44,882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-139,308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214784000006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องุ่นแดงนอก (GSA)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0530 PRODUCE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183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97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-3,217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-8,354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-2,102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-13,673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-22,902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8850901060090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จิตรลดา ข้าวหอมมะลิ ขนาด 5 กก.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0430 SALTED GROCERY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-201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-12,362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-12,563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-13,923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2000008120678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ปลาซาบะไซส์400-600 กรัม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98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-153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-9,941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-10,094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-40,075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8850038400035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ซอสหอยนางรมตราแม่ครัว600CC(M)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0430 SALTED GROCERY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179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-8,225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-8,225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-9,148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6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2000008610445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ไก่นิวออลีน(6X2กก.)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31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-399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-7,714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-8,113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-1,673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8854158100462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มิโนริข้าวญี่ปุ่น 5กก.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0430 SALTED GROCERY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21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-5,658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-5,658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-4,374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216129000009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บิ๊ก_ปลาซาบะย่างซอสเทอริยากิ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0540 DELICATESSEN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93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-5,618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-5,618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-10,370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9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8850653533095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CP ปีกกลางบาร์บีคิว 1000 ก.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0570 FROZEN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23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-4,887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-4,887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-4,904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10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8850250015062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อายิโนะโมะโต๊ะ 1 กิโลกรัม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0430 SALTED GROCERY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40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-4,282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263238"/>
                          </a:solidFill>
                          <a:latin typeface="Tahoma"/>
                        </a:rPr>
                        <a:t>0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-4,282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C0504D"/>
                          </a:solidFill>
                          <a:latin typeface="Tahoma"/>
                        </a:rPr>
                        <a:t>-10,593</a:t>
                      </a:r>
                    </a:p>
                  </a:txBody>
                  <a:tcPr marL="40000" marR="40000" marT="25000" marB="25000" anchor="ctr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0000" y="5050000"/>
            <a:ext cx="115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63238"/>
                </a:solidFill>
                <a:latin typeface="Tahoma"/>
              </a:rPr>
              <a:t>• Top 10 รวม 117,995 ฿ ≈ 32% ของ Loss MTD (367,967 ฿)</a:t>
            </a:r>
          </a:p>
          <a:p>
            <a:r>
              <a:rPr sz="1000" b="0">
                <a:solidFill>
                  <a:srgbClr val="263238"/>
                </a:solidFill>
                <a:latin typeface="Tahoma"/>
              </a:rPr>
              <a:t>• ทุเรียนหมอนทองยังเป็นอันดับ 1 (MTD -44,882 ฿: RTC -22,319 · Shrinkage -19,656 · Damage -2,907) — ปัญหาไม่ได้อยู่แค่ Damage แต่มี Shrinkage (นับขาด) ด้วย</a:t>
            </a:r>
          </a:p>
          <a:p>
            <a:r>
              <a:rPr sz="1000" b="0">
                <a:solidFill>
                  <a:srgbClr val="263238"/>
                </a:solidFill>
                <a:latin typeface="Tahoma"/>
              </a:rPr>
              <a:t>• Dry Food ที่เข้า Top 10 (ข้าวหอมมะลิจิตรลดา 5 กก., ซอสหอยนางรม, ข้าวญี่ปุ่นมิโนริ, อายิโนะโมะโต๊ะ) ส่วนใหญ่เป็น Shrinkage/RTC ไม่ใช่หมดอายุ — เทียบกับ Top YTD ที่เป็นบุหรี่ (Code 25)</a:t>
            </a:r>
          </a:p>
          <a:p>
            <a:r>
              <a:rPr sz="1000" b="0">
                <a:solidFill>
                  <a:srgbClr val="263238"/>
                </a:solidFill>
                <a:latin typeface="Tahoma"/>
              </a:rPr>
              <a:t>• Top 10 MTD ซ้ำกับ Top 20 YTD เพียง 3 รายการ (ทุเรียน, องุ่นแดงนอก, ปลาซาบะ 400-600 กรัม) = ปัญหาเปลี่ยนตามรอบ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000" y="6480000"/>
            <a:ext cx="1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0A4AE"/>
                </a:solidFill>
                <a:latin typeface="Tahoma"/>
              </a:rPr>
              <a:t>หมายเหตุ: Shrinkage สีเขียว = นับเกิน · จำนวนสูญเสียและ RTC หน่วยตามหน่วยขาย (ชิ้น/กก.)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>
            <a:extLst>
              <a:ext uri="{FF2B5EF4-FFF2-40B4-BE49-F238E27FC236}">
                <a16:creationId xmlns:a16="http://schemas.microsoft.com/office/drawing/2014/main" id="{573C4005-4311-47D1-B6B5-4EEE5D4D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10" y="-68061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3927" y="-36818"/>
            <a:ext cx="4129549" cy="814486"/>
          </a:xfrm>
        </p:spPr>
        <p:txBody>
          <a:bodyPr>
            <a:normAutofit fontScale="92500" lnSpcReduction="10000"/>
          </a:bodyPr>
          <a:lstStyle/>
          <a:p>
            <a:r>
              <a:rPr lang="en-US" sz="5400" dirty="0">
                <a:solidFill>
                  <a:schemeClr val="bg1"/>
                </a:solidFill>
                <a:latin typeface="BrowalliaUPC" panose="020B0604020202020204" pitchFamily="34" charset="-34"/>
                <a:cs typeface="BrowalliaUPC" panose="020B0604020202020204" pitchFamily="34" charset="-34"/>
              </a:rPr>
              <a:t>Target SOP (1/2) Damage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0000" y="1000000"/>
          <a:ext cx="11500000" cy="31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0000"/>
                <a:gridCol w="3900000"/>
                <a:gridCol w="3250000"/>
                <a:gridCol w="28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หัวข้อ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เกณฑ์ / Target ตาม SOP (LP)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ผลจริงจากข้อมูล Loss (ม.ค.–ก.ย. 2026)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ข้อสังเกต / สิ่งที่ต้องทำ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Loss % เทียบ Budget (B0) / LY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SOP LP ไม่ได้กำหนดเป้า %Loss — ต้องใช้ Budget (B0) จาก HO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%Loss/ยอดขาย YTD -2.29% · MTD -1.82% · คอลัมน์ %VS B0 = N/A (สไลด์ 4)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ขอไฟล์ B0 รายฝ่าย/แผนก เพื่อเติม %VS B0 และตั้งเป้าลดตามแผนก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RTC ใกล้หมดอายุ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Dry Food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DF ทั่วไป &gt;90 วัน: เหลือ 30 วัน 25% → 15 วัน 50% · DF Import +7 วัน 75%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≤30 ชิ้น RTC ตาม step · &gt;30 ชิ้น ประสานจัดซื้อทำ Speed change (เริ่มก่อนหมดอายุ 60 วัน) · ข้าม step ต้องขอ DD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Dry Food Damage Code 25 (หมดอายุ) -632,886 ฿ · RTC -276,404 ฿ (ปีก่อน -15,705)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Damage สูง = สัญญาณ RTC ช้าเกินไป → ตรวจ Nearly Expire Report ทุกอังคาร (Action plan #1)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RTC ใกล้หมดอายุ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Fresh Food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Butchery/Seafood (ชั่งแพ็คเอง) เริ่ม 09:00: 2 วัน 20% · 1 วัน 50% · Produce 2 วัน 20% / 1 วัน 30% (16:00 → 50%) · Delica 1 วัน 30%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ผจก.สาขาเพิ่มได้ไม่เกิน 75% ใน 2 ชม.ก่อนปิด · ห้าม RTC แพ็คคู่ / เก็บสะสม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FF RTC -1,141,562 ฿ (≈80% ของ RTC ทั้งสาขา) ปีก่อน -400,810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FF Damage -1,536,759 ฿ (ปีก่อน -2,299,406)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Damage ลด/RTC เพิ่ม = ลดราคาแทนทิ้ง · LP ต้องลงนาม Mark down Price Form คู่สติ๊กเกอร์ RTC ทุกครั้ง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ทิ้งทำลาย / ตัดจ่าย Damage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Code 21 ทุกแผนก · Code 25 หมดอายุ (Dry Food/Perishable) · ไม่แน่ใจว่าบริโภคปลอดภัย → ห้าม RTC ให้ทิ้ง Code 21 + แจ้งจัดซื้อ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LP ประจำจุด GR ตรวจก่อนทำลาย · ทำลาย ≥500 ฿/item แจ้ง M1 (Action plan #1)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ก.ย.: สินค้าที่ตัด Code 21/25 สะสมเดือน ≥500 ฿ มี 99 รายการ (Dry Food 30 · FF 69) = 106,495 ฿ ≈ 53% ของ Damage 21/25 เดือนนี้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ใช้เป็นรายการให้ M1 ตรวจอนุมัติรายสัปดาห์ · Dry Food YTD ≥500 ฿: 296 รายการ 537,797 ฿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0000" y="6500000"/>
            <a:ext cx="1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0A4AE"/>
                </a:solidFill>
                <a:latin typeface="Tahoma"/>
              </a:rPr>
              <a:t>ที่มา: คลังความรู้ SOP งาน LP Big C Hyper ไทรน้อย (RTC/Speed change 2026, Adjust Code, ประกาศบริษัท) + Action plan ในไฟล์นี้ · ใช้ภายในบริษัท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>
            <a:extLst>
              <a:ext uri="{FF2B5EF4-FFF2-40B4-BE49-F238E27FC236}">
                <a16:creationId xmlns:a16="http://schemas.microsoft.com/office/drawing/2014/main" id="{573C4005-4311-47D1-B6B5-4EEE5D4D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610" y="-68061"/>
            <a:ext cx="8595390" cy="93875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1CEF0C-15B0-38F8-0EDE-2CF3585B4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3927" y="-36818"/>
            <a:ext cx="4129549" cy="814486"/>
          </a:xfrm>
        </p:spPr>
        <p:txBody>
          <a:bodyPr>
            <a:normAutofit fontScale="92500" lnSpcReduction="10000"/>
          </a:bodyPr>
          <a:lstStyle/>
          <a:p>
            <a:r>
              <a:rPr lang="en-US" sz="5400" dirty="0">
                <a:solidFill>
                  <a:schemeClr val="bg1"/>
                </a:solidFill>
                <a:latin typeface="BrowalliaUPC" panose="020B0604020202020204" pitchFamily="34" charset="-34"/>
                <a:cs typeface="BrowalliaUPC" panose="020B0604020202020204" pitchFamily="34" charset="-34"/>
              </a:rPr>
              <a:t>Target SOP (2/2) Shrinkage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0000" y="1000000"/>
          <a:ext cx="11500000" cy="38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0000"/>
                <a:gridCol w="3900000"/>
                <a:gridCol w="3250000"/>
                <a:gridCol w="280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หัวข้อ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เกณฑ์ / Target ตาม SOP (LP)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ผลจริงจากข้อมูล Loss (ม.ค.–ก.ย. 2026)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90A4AE"/>
                          </a:solidFill>
                          <a:latin typeface="Tahoma"/>
                        </a:rPr>
                        <a:t>ข้อสังเกต / สิ่งที่ต้องทำ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Cycle count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Diff ±1,000 ฿/article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Code 23 สุทธิ YTD -211,400 ฿ (ก.ย. -9,141) · มี 231 รายการสินค้า-เดือนที่ |Diff| ≥1,000 ฿ (ก.ย. 4)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LP/แผนกตรวจของจริงก่อนปรับ — ห้ามปรับโดยไม่มีสินค้าจริง (ประกาศบริษัทข้อ 2, 7)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ตรวจนับประจำปี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(Hyper)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Diff ±10,000 ฿/article · Reconcile ก่อนปิด ±5,000 · ก่อน Apply ±30,000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เพดานอนุมัติ ≤20k SGM · ≤50k VP · ≤300k SVP · &gt;300k EVP · ห้ามใช้ Code 22/23 วัน Apply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923/924 สุทธิรายสินค้า: ส.ค. 7 รายการ ≥5,000 ฿ (2 ≥10,000) · ก.ย. 11 รายการ ≥5,000 ฿ (2 ≥10,000: ปลาซาบะนอร์เวย์แล่ +23,904 · ทุเรียนหมอนทอง -19,656)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เป็นตัวชี้ให้ตรวจ ไม่ใช่ผลเทียบเกณฑ์ Report วันปิดงาน (รวมเอกสารทั้งเดือน) · LP สุ่มตรวจของจริงเมื่อ Corrected ยอดสูง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สลับ Barcode / Negative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นับสลับบาร์โค้ด ต้องแก้คู่กันเสมอ · Negative stock ตรวจ 7 ขั้นตอน · Code 8 ขายผิด Barcode · Code 9 de-pack/re-pack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Dry Food ก.ย.: 923 นับเกิน +1,054,781 ฿ / 924 นับขาด -1,009,465 ฿ หักล้างกัน Shrinkage สุทธิ +35,691 ฿ (นับเกิน, รวม Code 23) หลังนับ G3-2 21–22 ก.ย.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ตรวจคู่ 923/924 ที่หักล้างกันสูงว่าเป็นสินค้าสลับ Barcode หรือไม่ (Action plan #3)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ขาดส่งจาก DC</a:t>
                      </a:r>
                    </a:p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(Code 22)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แจ้งเคลมอีเมล ≤24 ชม. · Ambient ≥5,000 ฿/รอบ (&lt;5,000 ต้องเคลมทั้งพาเลท) · Fresh Food ≥2,000 ฿/Transport note (ส่งตั้งแต่ 10 ส.ค. 2569) · DC ตอบ ≤7 วัน · หลักฐาน 6 รูป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Code 22 YTD -12,384 ฿ (ก.ย. -963) — มูลค่าน้อย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เคลมไม่ทันเวลา/หลักฐานไม่ครบ DC ปฏิเสธ · รอบที่ผ่าน LPS Audit 100% DC ไม่รับเคลม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Tahoma"/>
                        </a:rPr>
                        <a:t>กำหนดการนับ 2026 / Audit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นับ Hyper: G1 5–6 ส.ค. · G2 19–20 ส.ค. · G3-2 21–22 ก.ย. · LP ส่ง pre-count checklist ก่อน 09:00 ของ Pre-count Day 5 ผ่านเกณฑ์ 95%</a:t>
                      </a:r>
                    </a:p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Audit 2025: ADJUSTMENT ทุก Reason Code = 3 คะแนน · แก้ Adjust ผิดภายใน 7 วัน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Shrinkage Home Line ส.ค. -87,140 ฿ · Soft Line ส.ค. -51,858 ฿ (หลังรอบนับ G1/G2) · ก.ย. เกือบ 0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263238"/>
                          </a:solidFill>
                          <a:latin typeface="Tahoma"/>
                        </a:rPr>
                        <a:t>อ่านแนวโน้ม Shrinkage ต้องแยกเดือนที่ Apply นับประจำปี ออกจากเดือนปกติ</a:t>
                      </a:r>
                    </a:p>
                  </a:txBody>
                  <a:tcPr marL="40000" marR="40000" marT="25000" marB="25000" anchor="t">
                    <a:noFill/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E3EAE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0000" y="6500000"/>
            <a:ext cx="1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0A4AE"/>
                </a:solidFill>
                <a:latin typeface="Tahoma"/>
              </a:rPr>
              <a:t>ที่มา: คลังความรู้ SOP งาน LP Big C Hyper ไทรน้อย (Reconcile/Close/Apply, ตรวจนับ 2026, RTV/เคลม DC, Audit Store 2025) · ใช้ภายในบริษัท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I Template Powerpoint on White 4.3" id="{87488CBE-0349-4FE5-B092-5C0F2DE083DD}" vid="{356FC3D2-70BD-4742-AB9B-575B5B8971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26749</TotalTime>
  <Words>1644</Words>
  <Application>Microsoft Office PowerPoint</Application>
  <PresentationFormat>Widescreen</PresentationFormat>
  <Paragraphs>397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Angsana New</vt:lpstr>
      <vt:lpstr>Aptos</vt:lpstr>
      <vt:lpstr>Arial</vt:lpstr>
      <vt:lpstr>BrowalliaUPC</vt:lpstr>
      <vt:lpstr>Calibri</vt:lpstr>
      <vt:lpstr>Cambria</vt:lpstr>
      <vt:lpstr>Cordia New</vt:lpstr>
      <vt:lpstr>Tahoma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Itzahra</dc:creator>
  <cp:lastModifiedBy>Hyper_LP Sainoi</cp:lastModifiedBy>
  <cp:revision>992</cp:revision>
  <cp:lastPrinted>2026-07-07T00:38:53Z</cp:lastPrinted>
  <dcterms:created xsi:type="dcterms:W3CDTF">2020-03-12T08:36:08Z</dcterms:created>
  <dcterms:modified xsi:type="dcterms:W3CDTF">2026-09-14T09:41:28Z</dcterms:modified>
</cp:coreProperties>
</file>